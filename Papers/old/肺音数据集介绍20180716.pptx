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89" r:id="rId2"/>
    <p:sldId id="271" r:id="rId3"/>
    <p:sldId id="282" r:id="rId4"/>
    <p:sldId id="400" r:id="rId5"/>
    <p:sldId id="403" r:id="rId6"/>
    <p:sldId id="401" r:id="rId7"/>
    <p:sldId id="402" r:id="rId8"/>
    <p:sldId id="364" r:id="rId9"/>
    <p:sldId id="404" r:id="rId10"/>
    <p:sldId id="405" r:id="rId11"/>
    <p:sldId id="406" r:id="rId12"/>
    <p:sldId id="365" r:id="rId13"/>
    <p:sldId id="366" r:id="rId14"/>
    <p:sldId id="407" r:id="rId15"/>
    <p:sldId id="373" r:id="rId16"/>
    <p:sldId id="374" r:id="rId17"/>
    <p:sldId id="408" r:id="rId18"/>
    <p:sldId id="375" r:id="rId19"/>
    <p:sldId id="409" r:id="rId20"/>
    <p:sldId id="376" r:id="rId21"/>
    <p:sldId id="411" r:id="rId22"/>
    <p:sldId id="410" r:id="rId23"/>
    <p:sldId id="377" r:id="rId24"/>
    <p:sldId id="413" r:id="rId25"/>
    <p:sldId id="378" r:id="rId26"/>
    <p:sldId id="412" r:id="rId27"/>
    <p:sldId id="414" r:id="rId28"/>
    <p:sldId id="416" r:id="rId29"/>
    <p:sldId id="415" r:id="rId30"/>
    <p:sldId id="270" r:id="rId3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8">
          <p15:clr>
            <a:srgbClr val="A4A3A4"/>
          </p15:clr>
        </p15:guide>
        <p15:guide id="2" pos="29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2358"/>
    <a:srgbClr val="FB516D"/>
    <a:srgbClr val="E191C0"/>
    <a:srgbClr val="C8C4BC"/>
    <a:srgbClr val="131426"/>
    <a:srgbClr val="E74C2E"/>
    <a:srgbClr val="333F50"/>
    <a:srgbClr val="F7D9D3"/>
    <a:srgbClr val="6E6C67"/>
    <a:srgbClr val="7F82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65" autoAdjust="0"/>
    <p:restoredTop sz="92543" autoAdjust="0"/>
  </p:normalViewPr>
  <p:slideViewPr>
    <p:cSldViewPr snapToGrid="0">
      <p:cViewPr varScale="1">
        <p:scale>
          <a:sx n="84" d="100"/>
          <a:sy n="84" d="100"/>
        </p:scale>
        <p:origin x="1338" y="60"/>
      </p:cViewPr>
      <p:guideLst>
        <p:guide orient="horz" pos="2098"/>
        <p:guide pos="29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79BC3-7F3D-48AF-B3B5-B3739F8935B9}" type="datetimeFigureOut">
              <a:rPr lang="zh-CN" altLang="en-US" smtClean="0"/>
              <a:pPr/>
              <a:t>2018/7/16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15C117-C0D3-478F-A650-DDB9633867F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4</a:t>
            </a:fld>
            <a:endParaRPr lang="zh-CN" altLang="en-US"/>
          </a:p>
        </p:txBody>
      </p:sp>
    </p:spTree>
    <p:extLst>
      <p:ext uri="{BB962C8B-B14F-4D97-AF65-F5344CB8AC3E}">
        <p14:creationId xmlns:p14="http://schemas.microsoft.com/office/powerpoint/2010/main" val="396716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5</a:t>
            </a:fld>
            <a:endParaRPr lang="zh-CN" altLang="en-US"/>
          </a:p>
        </p:txBody>
      </p:sp>
    </p:spTree>
    <p:extLst>
      <p:ext uri="{BB962C8B-B14F-4D97-AF65-F5344CB8AC3E}">
        <p14:creationId xmlns:p14="http://schemas.microsoft.com/office/powerpoint/2010/main" val="670230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6</a:t>
            </a:fld>
            <a:endParaRPr lang="zh-CN" altLang="en-US"/>
          </a:p>
        </p:txBody>
      </p:sp>
    </p:spTree>
    <p:extLst>
      <p:ext uri="{BB962C8B-B14F-4D97-AF65-F5344CB8AC3E}">
        <p14:creationId xmlns:p14="http://schemas.microsoft.com/office/powerpoint/2010/main" val="2291335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7</a:t>
            </a:fld>
            <a:endParaRPr lang="zh-CN" altLang="en-US"/>
          </a:p>
        </p:txBody>
      </p:sp>
    </p:spTree>
    <p:extLst>
      <p:ext uri="{BB962C8B-B14F-4D97-AF65-F5344CB8AC3E}">
        <p14:creationId xmlns:p14="http://schemas.microsoft.com/office/powerpoint/2010/main" val="3810765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9</a:t>
            </a:fld>
            <a:endParaRPr lang="zh-CN" altLang="en-US"/>
          </a:p>
        </p:txBody>
      </p:sp>
    </p:spTree>
    <p:extLst>
      <p:ext uri="{BB962C8B-B14F-4D97-AF65-F5344CB8AC3E}">
        <p14:creationId xmlns:p14="http://schemas.microsoft.com/office/powerpoint/2010/main" val="3549025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10</a:t>
            </a:fld>
            <a:endParaRPr lang="zh-CN" altLang="en-US"/>
          </a:p>
        </p:txBody>
      </p:sp>
    </p:spTree>
    <p:extLst>
      <p:ext uri="{BB962C8B-B14F-4D97-AF65-F5344CB8AC3E}">
        <p14:creationId xmlns:p14="http://schemas.microsoft.com/office/powerpoint/2010/main" val="3836290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11</a:t>
            </a:fld>
            <a:endParaRPr lang="zh-CN" altLang="en-US"/>
          </a:p>
        </p:txBody>
      </p:sp>
    </p:spTree>
    <p:extLst>
      <p:ext uri="{BB962C8B-B14F-4D97-AF65-F5344CB8AC3E}">
        <p14:creationId xmlns:p14="http://schemas.microsoft.com/office/powerpoint/2010/main" val="1778368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14</a:t>
            </a:fld>
            <a:endParaRPr lang="zh-CN" altLang="en-US"/>
          </a:p>
        </p:txBody>
      </p:sp>
    </p:spTree>
    <p:extLst>
      <p:ext uri="{BB962C8B-B14F-4D97-AF65-F5344CB8AC3E}">
        <p14:creationId xmlns:p14="http://schemas.microsoft.com/office/powerpoint/2010/main" val="323279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17</a:t>
            </a:fld>
            <a:endParaRPr lang="zh-CN" altLang="en-US"/>
          </a:p>
        </p:txBody>
      </p:sp>
    </p:spTree>
    <p:extLst>
      <p:ext uri="{BB962C8B-B14F-4D97-AF65-F5344CB8AC3E}">
        <p14:creationId xmlns:p14="http://schemas.microsoft.com/office/powerpoint/2010/main" val="947413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19</a:t>
            </a:fld>
            <a:endParaRPr lang="zh-CN" altLang="en-US"/>
          </a:p>
        </p:txBody>
      </p:sp>
    </p:spTree>
    <p:extLst>
      <p:ext uri="{BB962C8B-B14F-4D97-AF65-F5344CB8AC3E}">
        <p14:creationId xmlns:p14="http://schemas.microsoft.com/office/powerpoint/2010/main" val="9324422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21</a:t>
            </a:fld>
            <a:endParaRPr lang="zh-CN" altLang="en-US"/>
          </a:p>
        </p:txBody>
      </p:sp>
    </p:spTree>
    <p:extLst>
      <p:ext uri="{BB962C8B-B14F-4D97-AF65-F5344CB8AC3E}">
        <p14:creationId xmlns:p14="http://schemas.microsoft.com/office/powerpoint/2010/main" val="1919801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22</a:t>
            </a:fld>
            <a:endParaRPr lang="zh-CN" altLang="en-US"/>
          </a:p>
        </p:txBody>
      </p:sp>
    </p:spTree>
    <p:extLst>
      <p:ext uri="{BB962C8B-B14F-4D97-AF65-F5344CB8AC3E}">
        <p14:creationId xmlns:p14="http://schemas.microsoft.com/office/powerpoint/2010/main" val="3507442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24</a:t>
            </a:fld>
            <a:endParaRPr lang="zh-CN" altLang="en-US"/>
          </a:p>
        </p:txBody>
      </p:sp>
    </p:spTree>
    <p:extLst>
      <p:ext uri="{BB962C8B-B14F-4D97-AF65-F5344CB8AC3E}">
        <p14:creationId xmlns:p14="http://schemas.microsoft.com/office/powerpoint/2010/main" val="2422982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26</a:t>
            </a:fld>
            <a:endParaRPr lang="zh-CN" altLang="en-US"/>
          </a:p>
        </p:txBody>
      </p:sp>
    </p:spTree>
    <p:extLst>
      <p:ext uri="{BB962C8B-B14F-4D97-AF65-F5344CB8AC3E}">
        <p14:creationId xmlns:p14="http://schemas.microsoft.com/office/powerpoint/2010/main" val="1488230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27</a:t>
            </a:fld>
            <a:endParaRPr lang="zh-CN" altLang="en-US"/>
          </a:p>
        </p:txBody>
      </p:sp>
    </p:spTree>
    <p:extLst>
      <p:ext uri="{BB962C8B-B14F-4D97-AF65-F5344CB8AC3E}">
        <p14:creationId xmlns:p14="http://schemas.microsoft.com/office/powerpoint/2010/main" val="27894076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28</a:t>
            </a:fld>
            <a:endParaRPr lang="zh-CN" altLang="en-US"/>
          </a:p>
        </p:txBody>
      </p:sp>
    </p:spTree>
    <p:extLst>
      <p:ext uri="{BB962C8B-B14F-4D97-AF65-F5344CB8AC3E}">
        <p14:creationId xmlns:p14="http://schemas.microsoft.com/office/powerpoint/2010/main" val="21439721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29</a:t>
            </a:fld>
            <a:endParaRPr lang="zh-CN" altLang="en-US"/>
          </a:p>
        </p:txBody>
      </p:sp>
    </p:spTree>
    <p:extLst>
      <p:ext uri="{BB962C8B-B14F-4D97-AF65-F5344CB8AC3E}">
        <p14:creationId xmlns:p14="http://schemas.microsoft.com/office/powerpoint/2010/main" val="406260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615C117-C0D3-478F-A650-DDB9633867FD}" type="slidenum">
              <a:rPr lang="zh-CN" altLang="en-US" smtClean="0"/>
              <a:pPr/>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r>
              <a:rPr lang="en-US" altLang="zh-CN" smtClean="0"/>
              <a:t>1</a:t>
            </a:r>
            <a:endParaRPr lang="zh-CN" altLang="en-US"/>
          </a:p>
        </p:txBody>
      </p:sp>
      <p:sp>
        <p:nvSpPr>
          <p:cNvPr id="9" name="灯片编号占位符 8"/>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smtClean="0"/>
              <a:t>1</a:t>
            </a:r>
            <a:endParaRPr lang="zh-CN" altLang="en-US"/>
          </a:p>
        </p:txBody>
      </p:sp>
      <p:sp>
        <p:nvSpPr>
          <p:cNvPr id="5" name="灯片编号占位符 4"/>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en-US" altLang="zh-CN" smtClean="0"/>
              <a:t>1</a:t>
            </a:r>
            <a:endParaRPr lang="zh-CN" altLang="en-US"/>
          </a:p>
        </p:txBody>
      </p:sp>
      <p:sp>
        <p:nvSpPr>
          <p:cNvPr id="4" name="灯片编号占位符 3"/>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smtClean="0"/>
              <a:t>1</a:t>
            </a:r>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99A888-F0A6-497F-A203-744BF10280CF}" type="slidenum">
              <a:rPr lang="zh-CN" altLang="en-US" smtClean="0"/>
              <a:pPr/>
              <a:t>‹#›</a:t>
            </a:fld>
            <a:endParaRPr lang="zh-CN" altLang="en-US"/>
          </a:p>
        </p:txBody>
      </p:sp>
      <p:sp>
        <p:nvSpPr>
          <p:cNvPr id="7" name="矩形 6"/>
          <p:cNvSpPr/>
          <p:nvPr userDrawn="1"/>
        </p:nvSpPr>
        <p:spPr>
          <a:xfrm>
            <a:off x="0" y="1"/>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userDrawn="1"/>
        </p:nvSpPr>
        <p:spPr>
          <a:xfrm>
            <a:off x="0" y="6445605"/>
            <a:ext cx="9143999" cy="419094"/>
          </a:xfrm>
          <a:prstGeom prst="rect">
            <a:avLst/>
          </a:prstGeom>
          <a:solidFill>
            <a:srgbClr val="802358">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9" name="矩形 8"/>
          <p:cNvSpPr/>
          <p:nvPr userDrawn="1"/>
        </p:nvSpPr>
        <p:spPr>
          <a:xfrm>
            <a:off x="-1" y="6445605"/>
            <a:ext cx="796835" cy="419094"/>
          </a:xfrm>
          <a:prstGeom prst="rect">
            <a:avLst/>
          </a:prstGeom>
          <a:solidFill>
            <a:srgbClr val="802358"/>
          </a:solid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3334"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1350"/>
              <a:t>`</a:t>
            </a:r>
          </a:p>
        </p:txBody>
      </p:sp>
      <p:sp>
        <p:nvSpPr>
          <p:cNvPr id="5" name="矩形 4"/>
          <p:cNvSpPr/>
          <p:nvPr/>
        </p:nvSpPr>
        <p:spPr>
          <a:xfrm>
            <a:off x="3334" y="2472214"/>
            <a:ext cx="9144000" cy="1577340"/>
          </a:xfrm>
          <a:prstGeom prst="rect">
            <a:avLst/>
          </a:prstGeom>
          <a:solidFill>
            <a:srgbClr val="802358"/>
          </a:solid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smtClean="0"/>
              <a:t> </a:t>
            </a:r>
            <a:endParaRPr lang="zh-CN" altLang="en-US" sz="1350" dirty="0"/>
          </a:p>
        </p:txBody>
      </p:sp>
      <p:sp>
        <p:nvSpPr>
          <p:cNvPr id="23" name="TextBox 22"/>
          <p:cNvSpPr txBox="1"/>
          <p:nvPr/>
        </p:nvSpPr>
        <p:spPr>
          <a:xfrm>
            <a:off x="2867353" y="2863594"/>
            <a:ext cx="3416320" cy="646331"/>
          </a:xfrm>
          <a:prstGeom prst="rect">
            <a:avLst/>
          </a:prstGeom>
          <a:noFill/>
        </p:spPr>
        <p:txBody>
          <a:bodyPr wrap="none">
            <a:spAutoFit/>
          </a:bodyPr>
          <a:lstStyle/>
          <a:p>
            <a:pPr algn="ctr">
              <a:defRPr/>
            </a:pPr>
            <a:r>
              <a:rPr lang="zh-CN" altLang="en-US" sz="3600" b="1" dirty="0" smtClean="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肺音数据集简介</a:t>
            </a:r>
            <a:endParaRPr lang="zh-CN" altLang="en-US" sz="3600" b="1" dirty="0" smtClean="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1026" name="Picture 2" descr="C:\Users\Administrator\Desktop\南开大学.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9015" y="1213615"/>
            <a:ext cx="1935956" cy="714375"/>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4A99A888-F0A6-497F-A203-744BF10280CF}" type="slidenum">
              <a:rPr lang="zh-CN" altLang="en-US" sz="900" smtClean="0"/>
              <a:pPr/>
              <a:t>1</a:t>
            </a:fld>
            <a:endParaRPr lang="zh-CN" altLang="en-US" sz="900"/>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810" y="356869"/>
            <a:ext cx="2741295" cy="460375"/>
            <a:chOff x="0" y="522689"/>
            <a:chExt cx="3422416" cy="508886"/>
          </a:xfrm>
          <a:solidFill>
            <a:srgbClr val="802358"/>
          </a:solidFill>
        </p:grpSpPr>
        <p:grpSp>
          <p:nvGrpSpPr>
            <p:cNvPr id="5" name="组合 4"/>
            <p:cNvGrpSpPr/>
            <p:nvPr/>
          </p:nvGrpSpPr>
          <p:grpSpPr>
            <a:xfrm>
              <a:off x="0" y="533201"/>
              <a:ext cx="3422416" cy="492760"/>
              <a:chOff x="0" y="278653"/>
              <a:chExt cx="3422416" cy="492760"/>
            </a:xfrm>
            <a:grpFill/>
          </p:grpSpPr>
          <p:sp>
            <p:nvSpPr>
              <p:cNvPr id="7" name="矩形 6"/>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8" name="直角三角形 7"/>
              <p:cNvSpPr/>
              <p:nvPr/>
            </p:nvSpPr>
            <p:spPr>
              <a:xfrm>
                <a:off x="3083571"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6"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zh-CN" altLang="en-US" sz="2400" dirty="0" smtClean="0">
                  <a:solidFill>
                    <a:schemeClr val="bg1"/>
                  </a:solidFill>
                  <a:latin typeface="黑体" panose="02010609060101010101" charset="-122"/>
                  <a:ea typeface="黑体" panose="02010609060101010101" charset="-122"/>
                </a:rPr>
                <a:t>目   录</a:t>
              </a:r>
            </a:p>
          </p:txBody>
        </p:sp>
      </p:grpSp>
      <p:sp>
        <p:nvSpPr>
          <p:cNvPr id="2" name="灯片编号占位符 1"/>
          <p:cNvSpPr>
            <a:spLocks noGrp="1"/>
          </p:cNvSpPr>
          <p:nvPr>
            <p:ph type="sldNum" sz="quarter" idx="12"/>
          </p:nvPr>
        </p:nvSpPr>
        <p:spPr/>
        <p:txBody>
          <a:bodyPr/>
          <a:lstStyle/>
          <a:p>
            <a:fld id="{4A99A888-F0A6-497F-A203-744BF10280CF}" type="slidenum">
              <a:rPr lang="zh-CN" altLang="en-US" sz="900" smtClean="0">
                <a:latin typeface="黑体" panose="02010609060101010101" charset="-122"/>
                <a:ea typeface="黑体" panose="02010609060101010101" charset="-122"/>
              </a:rPr>
              <a:pPr/>
              <a:t>2</a:t>
            </a:fld>
            <a:endParaRPr lang="zh-CN" altLang="en-US" sz="900" smtClean="0">
              <a:latin typeface="黑体" panose="02010609060101010101" charset="-122"/>
              <a:ea typeface="黑体" panose="02010609060101010101" charset="-122"/>
            </a:endParaRPr>
          </a:p>
        </p:txBody>
      </p:sp>
      <p:grpSp>
        <p:nvGrpSpPr>
          <p:cNvPr id="43" name="组合 42"/>
          <p:cNvGrpSpPr/>
          <p:nvPr/>
        </p:nvGrpSpPr>
        <p:grpSpPr>
          <a:xfrm>
            <a:off x="1920240" y="1387475"/>
            <a:ext cx="6087110" cy="617855"/>
            <a:chOff x="1098018" y="1340446"/>
            <a:chExt cx="6947964" cy="737210"/>
          </a:xfrm>
        </p:grpSpPr>
        <p:sp>
          <p:nvSpPr>
            <p:cNvPr id="44" name="任意多边形 43"/>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b="1" kern="1200" dirty="0" smtClean="0">
                  <a:solidFill>
                    <a:srgbClr val="FB516D"/>
                  </a:solidFill>
                  <a:latin typeface="黑体" panose="02010609060101010101" charset="-122"/>
                  <a:ea typeface="黑体" panose="02010609060101010101" charset="-122"/>
                </a:rPr>
                <a:t>原始数据集</a:t>
              </a:r>
              <a:endParaRPr lang="zh-CN" altLang="en-US" b="1" kern="1200" dirty="0" smtClean="0">
                <a:solidFill>
                  <a:srgbClr val="FB516D"/>
                </a:solidFill>
                <a:latin typeface="黑体" panose="02010609060101010101" charset="-122"/>
                <a:ea typeface="黑体" panose="02010609060101010101" charset="-122"/>
              </a:endParaRPr>
            </a:p>
          </p:txBody>
        </p:sp>
        <p:sp>
          <p:nvSpPr>
            <p:cNvPr id="45" name="任意多边形 44"/>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1</a:t>
              </a:r>
              <a:endParaRPr lang="en-US" altLang="zh-CN" sz="3200" kern="1200" dirty="0" smtClean="0">
                <a:latin typeface="黑体" panose="02010609060101010101" charset="-122"/>
                <a:ea typeface="黑体" panose="02010609060101010101" charset="-122"/>
              </a:endParaRPr>
            </a:p>
          </p:txBody>
        </p:sp>
      </p:grpSp>
      <p:grpSp>
        <p:nvGrpSpPr>
          <p:cNvPr id="46" name="组合 45"/>
          <p:cNvGrpSpPr/>
          <p:nvPr/>
        </p:nvGrpSpPr>
        <p:grpSpPr>
          <a:xfrm>
            <a:off x="1920240" y="2131060"/>
            <a:ext cx="6087110" cy="617855"/>
            <a:chOff x="1098018" y="2124042"/>
            <a:chExt cx="6947964" cy="737210"/>
          </a:xfrm>
          <a:solidFill>
            <a:srgbClr val="802358">
              <a:alpha val="10000"/>
            </a:srgbClr>
          </a:solidFill>
        </p:grpSpPr>
        <p:sp>
          <p:nvSpPr>
            <p:cNvPr id="47" name="任意多边形 46"/>
            <p:cNvSpPr/>
            <p:nvPr/>
          </p:nvSpPr>
          <p:spPr>
            <a:xfrm>
              <a:off x="2699790" y="2188239"/>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grp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smtClean="0">
                  <a:latin typeface="黑体" panose="02010609060101010101" charset="-122"/>
                  <a:ea typeface="黑体" panose="02010609060101010101" charset="-122"/>
                </a:rPr>
                <a:t>实验数据集</a:t>
              </a:r>
              <a:endParaRPr lang="zh-CN" dirty="0" smtClean="0">
                <a:latin typeface="黑体" panose="02010609060101010101" charset="-122"/>
                <a:ea typeface="黑体" panose="02010609060101010101" charset="-122"/>
              </a:endParaRPr>
            </a:p>
          </p:txBody>
        </p:sp>
        <p:sp>
          <p:nvSpPr>
            <p:cNvPr id="48" name="任意多边形 47"/>
            <p:cNvSpPr/>
            <p:nvPr/>
          </p:nvSpPr>
          <p:spPr>
            <a:xfrm>
              <a:off x="1098018" y="2124042"/>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2</a:t>
              </a:r>
              <a:endParaRPr lang="en-US" altLang="zh-CN" sz="3200" kern="1200" dirty="0" smtClean="0">
                <a:latin typeface="黑体" panose="02010609060101010101" charset="-122"/>
                <a:ea typeface="黑体" panose="02010609060101010101" charset="-122"/>
              </a:endParaRPr>
            </a:p>
          </p:txBody>
        </p:sp>
      </p:grpSp>
      <p:grpSp>
        <p:nvGrpSpPr>
          <p:cNvPr id="49" name="组合 48"/>
          <p:cNvGrpSpPr/>
          <p:nvPr/>
        </p:nvGrpSpPr>
        <p:grpSpPr>
          <a:xfrm>
            <a:off x="1920240" y="2860040"/>
            <a:ext cx="6087110" cy="617855"/>
            <a:chOff x="1098018" y="2888588"/>
            <a:chExt cx="6947964" cy="737210"/>
          </a:xfrm>
        </p:grpSpPr>
        <p:sp>
          <p:nvSpPr>
            <p:cNvPr id="50" name="任意多边形 49"/>
            <p:cNvSpPr/>
            <p:nvPr/>
          </p:nvSpPr>
          <p:spPr>
            <a:xfrm>
              <a:off x="2699790" y="296231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dirty="0" err="1" smtClean="0">
                  <a:latin typeface="黑体" panose="02010609060101010101" charset="-122"/>
                  <a:ea typeface="黑体" panose="02010609060101010101" charset="-122"/>
                </a:rPr>
                <a:t>肺音的</a:t>
              </a:r>
              <a:r>
                <a:rPr lang="zh-CN" altLang="en-US" dirty="0" smtClean="0">
                  <a:latin typeface="黑体" panose="02010609060101010101" charset="-122"/>
                  <a:ea typeface="黑体" panose="02010609060101010101" charset="-122"/>
                </a:rPr>
                <a:t>医学特性</a:t>
              </a:r>
              <a:endParaRPr lang="zh-CN" dirty="0" smtClean="0">
                <a:latin typeface="黑体" panose="02010609060101010101" charset="-122"/>
                <a:ea typeface="黑体" panose="02010609060101010101" charset="-122"/>
              </a:endParaRPr>
            </a:p>
          </p:txBody>
        </p:sp>
        <p:sp>
          <p:nvSpPr>
            <p:cNvPr id="51" name="任意多边形 50"/>
            <p:cNvSpPr/>
            <p:nvPr/>
          </p:nvSpPr>
          <p:spPr>
            <a:xfrm>
              <a:off x="1098018" y="2888588"/>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3</a:t>
              </a:r>
              <a:endParaRPr lang="en-US" altLang="zh-CN" sz="3200" kern="1200" dirty="0" smtClean="0">
                <a:latin typeface="黑体" panose="02010609060101010101" charset="-122"/>
                <a:ea typeface="黑体" panose="02010609060101010101" charset="-122"/>
              </a:endParaRPr>
            </a:p>
          </p:txBody>
        </p:sp>
      </p:grpSp>
      <p:grpSp>
        <p:nvGrpSpPr>
          <p:cNvPr id="52" name="组合 51"/>
          <p:cNvGrpSpPr/>
          <p:nvPr/>
        </p:nvGrpSpPr>
        <p:grpSpPr>
          <a:xfrm>
            <a:off x="1920240" y="3596640"/>
            <a:ext cx="6087110" cy="617855"/>
            <a:chOff x="1098018" y="3662660"/>
            <a:chExt cx="6947964" cy="737210"/>
          </a:xfrm>
        </p:grpSpPr>
        <p:sp>
          <p:nvSpPr>
            <p:cNvPr id="53" name="任意多边形 52"/>
            <p:cNvSpPr/>
            <p:nvPr/>
          </p:nvSpPr>
          <p:spPr>
            <a:xfrm>
              <a:off x="2699790" y="373638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dirty="0" smtClean="0">
                  <a:latin typeface="黑体" panose="02010609060101010101" charset="-122"/>
                  <a:ea typeface="黑体" panose="02010609060101010101" charset="-122"/>
                  <a:sym typeface="+mn-ea"/>
                </a:rPr>
                <a:t>肺音的特征提取</a:t>
              </a:r>
              <a:endParaRPr lang="zh-CN" altLang="en-US" dirty="0" smtClean="0">
                <a:latin typeface="黑体" panose="02010609060101010101" charset="-122"/>
                <a:ea typeface="黑体" panose="02010609060101010101" charset="-122"/>
                <a:sym typeface="+mn-ea"/>
              </a:endParaRPr>
            </a:p>
          </p:txBody>
        </p:sp>
        <p:sp>
          <p:nvSpPr>
            <p:cNvPr id="54" name="任意多边形 53"/>
            <p:cNvSpPr/>
            <p:nvPr/>
          </p:nvSpPr>
          <p:spPr>
            <a:xfrm>
              <a:off x="1098018" y="3662660"/>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4</a:t>
              </a:r>
              <a:endParaRPr lang="en-US" altLang="zh-CN" sz="3200" kern="1200" dirty="0" smtClean="0">
                <a:latin typeface="黑体" panose="02010609060101010101" charset="-122"/>
                <a:ea typeface="黑体" panose="02010609060101010101" charset="-122"/>
              </a:endParaRPr>
            </a:p>
          </p:txBody>
        </p:sp>
      </p:grpSp>
      <p:grpSp>
        <p:nvGrpSpPr>
          <p:cNvPr id="55" name="组合 54"/>
          <p:cNvGrpSpPr/>
          <p:nvPr/>
        </p:nvGrpSpPr>
        <p:grpSpPr>
          <a:xfrm>
            <a:off x="1920240" y="4332605"/>
            <a:ext cx="6087110" cy="617855"/>
            <a:chOff x="1098018" y="4436731"/>
            <a:chExt cx="6947964" cy="737210"/>
          </a:xfrm>
        </p:grpSpPr>
        <p:sp>
          <p:nvSpPr>
            <p:cNvPr id="56" name="任意多边形 55"/>
            <p:cNvSpPr/>
            <p:nvPr/>
          </p:nvSpPr>
          <p:spPr>
            <a:xfrm>
              <a:off x="2699790" y="4510453"/>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kern="1200" dirty="0" smtClean="0">
                  <a:latin typeface="黑体" panose="02010609060101010101" charset="-122"/>
                  <a:ea typeface="黑体" panose="02010609060101010101" charset="-122"/>
                  <a:sym typeface="+mn-ea"/>
                </a:rPr>
                <a:t>肺音分类的相关方法</a:t>
              </a:r>
              <a:endParaRPr lang="zh-CN" altLang="en-US" kern="1200" dirty="0" smtClean="0">
                <a:latin typeface="黑体" panose="02010609060101010101" charset="-122"/>
                <a:ea typeface="黑体" panose="02010609060101010101" charset="-122"/>
                <a:sym typeface="+mn-ea"/>
              </a:endParaRPr>
            </a:p>
          </p:txBody>
        </p:sp>
        <p:sp>
          <p:nvSpPr>
            <p:cNvPr id="57" name="任意多边形 56"/>
            <p:cNvSpPr/>
            <p:nvPr/>
          </p:nvSpPr>
          <p:spPr>
            <a:xfrm>
              <a:off x="1098018" y="4436731"/>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5</a:t>
              </a:r>
              <a:endParaRPr lang="en-US" altLang="zh-CN" sz="3200" kern="1200" dirty="0" smtClean="0">
                <a:latin typeface="黑体" panose="02010609060101010101" charset="-122"/>
                <a:ea typeface="黑体" panose="02010609060101010101" charset="-122"/>
              </a:endParaRPr>
            </a:p>
          </p:txBody>
        </p:sp>
      </p:grpSp>
      <p:pic>
        <p:nvPicPr>
          <p:cNvPr id="16396" name="图片 1"/>
          <p:cNvPicPr>
            <a:picLocks noChangeAspect="1"/>
          </p:cNvPicPr>
          <p:nvPr/>
        </p:nvPicPr>
        <p:blipFill>
          <a:blip r:embed="rId3" cstate="print"/>
          <a:stretch>
            <a:fillRect/>
          </a:stretch>
        </p:blipFill>
        <p:spPr>
          <a:xfrm>
            <a:off x="1136015" y="1483995"/>
            <a:ext cx="639445" cy="45910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3</a:t>
            </a:fld>
            <a:endParaRPr lang="zh-CN" altLang="en-US" sz="900"/>
          </a:p>
        </p:txBody>
      </p:sp>
      <p:sp>
        <p:nvSpPr>
          <p:cNvPr id="10" name="文本框 9"/>
          <p:cNvSpPr txBox="1"/>
          <p:nvPr/>
        </p:nvSpPr>
        <p:spPr>
          <a:xfrm>
            <a:off x="405130" y="1090295"/>
            <a:ext cx="7531735" cy="1532727"/>
          </a:xfrm>
          <a:prstGeom prst="rect">
            <a:avLst/>
          </a:prstGeom>
          <a:noFill/>
          <a:ln w="9525">
            <a:noFill/>
          </a:ln>
        </p:spPr>
        <p:txBody>
          <a:bodyPr wrap="square">
            <a:spAutoFit/>
          </a:bodyPr>
          <a:lstStyle/>
          <a:p>
            <a:pPr>
              <a:lnSpc>
                <a:spcPct val="130000"/>
              </a:lnSpc>
            </a:pPr>
            <a:r>
              <a:rPr lang="zh-CN" altLang="en-US" dirty="0"/>
              <a:t>该数据集共 </a:t>
            </a:r>
            <a:r>
              <a:rPr lang="en-US" altLang="zh-CN" dirty="0"/>
              <a:t>6269 </a:t>
            </a:r>
            <a:r>
              <a:rPr lang="zh-CN" altLang="en-US" dirty="0"/>
              <a:t>条肺音音频。 其中已标注 </a:t>
            </a:r>
            <a:r>
              <a:rPr lang="en-US" altLang="zh-CN" dirty="0"/>
              <a:t>6233 </a:t>
            </a:r>
            <a:r>
              <a:rPr lang="zh-CN" altLang="en-US" dirty="0"/>
              <a:t>条， 未标注 </a:t>
            </a:r>
            <a:r>
              <a:rPr lang="en-US" altLang="zh-CN" dirty="0"/>
              <a:t>36 </a:t>
            </a:r>
            <a:r>
              <a:rPr lang="zh-CN" altLang="en-US" dirty="0"/>
              <a:t>条。 </a:t>
            </a:r>
            <a:r>
              <a:rPr lang="zh-CN" altLang="en-US" dirty="0" smtClean="0"/>
              <a:t>数据格式</a:t>
            </a:r>
            <a:r>
              <a:rPr lang="zh-CN" altLang="en-US" dirty="0"/>
              <a:t>如下</a:t>
            </a:r>
            <a:r>
              <a:rPr lang="zh-CN" altLang="en-US" dirty="0" smtClean="0"/>
              <a:t>图所</a:t>
            </a:r>
            <a:r>
              <a:rPr lang="zh-CN" altLang="en-US" dirty="0"/>
              <a:t>示：</a:t>
            </a:r>
            <a:r>
              <a:rPr lang="zh-CN" altLang="en-US" dirty="0"/>
              <a:t> </a:t>
            </a:r>
            <a:endParaRPr lang="en-US" altLang="zh-CN" dirty="0" smtClean="0"/>
          </a:p>
          <a:p>
            <a:pPr>
              <a:lnSpc>
                <a:spcPct val="130000"/>
              </a:lnSpc>
            </a:pPr>
            <a:r>
              <a:rPr lang="zh-CN" altLang="en-US" dirty="0"/>
              <a:t/>
            </a:r>
            <a:br>
              <a:rPr lang="zh-CN" altLang="en-US" dirty="0"/>
            </a:br>
            <a:endParaRPr lang="zh-CN" altLang="en-US" b="0" dirty="0" smtClean="0">
              <a:latin typeface="黑体" panose="02010609060101010101" charset="-122"/>
              <a:ea typeface="黑体" panose="02010609060101010101" charset="-122"/>
              <a:cs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1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原始数据集</a:t>
              </a:r>
              <a:endParaRPr lang="zh-CN" altLang="en-US" sz="2400" dirty="0" smtClean="0">
                <a:solidFill>
                  <a:schemeClr val="bg1"/>
                </a:solidFill>
                <a:latin typeface="黑体" panose="02010609060101010101" charset="-122"/>
                <a:ea typeface="黑体" panose="02010609060101010101" charset="-122"/>
              </a:endParaRPr>
            </a:p>
          </p:txBody>
        </p:sp>
      </p:gr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362" y="1851660"/>
            <a:ext cx="8334988" cy="411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4</a:t>
            </a:fld>
            <a:endParaRPr lang="zh-CN" altLang="en-US" sz="900"/>
          </a:p>
        </p:txBody>
      </p:sp>
      <p:sp>
        <p:nvSpPr>
          <p:cNvPr id="10" name="文本框 9"/>
          <p:cNvSpPr txBox="1"/>
          <p:nvPr/>
        </p:nvSpPr>
        <p:spPr>
          <a:xfrm>
            <a:off x="79658" y="2032659"/>
            <a:ext cx="7531735" cy="4773614"/>
          </a:xfrm>
          <a:prstGeom prst="rect">
            <a:avLst/>
          </a:prstGeom>
          <a:noFill/>
          <a:ln w="9525">
            <a:noFill/>
          </a:ln>
        </p:spPr>
        <p:txBody>
          <a:bodyPr wrap="square">
            <a:spAutoFit/>
          </a:bodyPr>
          <a:lstStyle/>
          <a:p>
            <a:pPr>
              <a:lnSpc>
                <a:spcPct val="130000"/>
              </a:lnSpc>
            </a:pPr>
            <a:r>
              <a:rPr lang="zh-CN" altLang="en-US" dirty="0" smtClean="0"/>
              <a:t>上述图片是数据</a:t>
            </a:r>
            <a:r>
              <a:rPr lang="zh-CN" altLang="en-US" dirty="0"/>
              <a:t>标注例子</a:t>
            </a:r>
            <a:r>
              <a:rPr lang="zh-CN" altLang="en-US" dirty="0" smtClean="0"/>
              <a:t>：</a:t>
            </a:r>
            <a:endParaRPr lang="en-US" altLang="zh-CN" dirty="0" smtClean="0"/>
          </a:p>
          <a:p>
            <a:pPr>
              <a:lnSpc>
                <a:spcPct val="130000"/>
              </a:lnSpc>
            </a:pPr>
            <a:r>
              <a:rPr lang="zh-CN" altLang="en-US" dirty="0"/>
              <a:t>由于不知标注字段真实含义， 根据数据特点分析， 本次统计实验分析中， </a:t>
            </a:r>
            <a:r>
              <a:rPr lang="zh-CN" altLang="en-US" dirty="0" smtClean="0"/>
              <a:t>暂将</a:t>
            </a:r>
            <a:r>
              <a:rPr lang="zh-CN" altLang="en-US" dirty="0"/>
              <a:t>性别字段后， 三个字段， 如上两条数据中 </a:t>
            </a:r>
            <a:r>
              <a:rPr lang="en-US" altLang="zh-CN" dirty="0"/>
              <a:t>65_172_070 </a:t>
            </a:r>
            <a:r>
              <a:rPr lang="zh-CN" altLang="en-US" dirty="0" smtClean="0"/>
              <a:t>和</a:t>
            </a:r>
            <a:r>
              <a:rPr lang="en-US" altLang="zh-CN" dirty="0" smtClean="0"/>
              <a:t>74_000_000</a:t>
            </a:r>
            <a:r>
              <a:rPr lang="zh-CN" altLang="en-US" dirty="0"/>
              <a:t>， 假设</a:t>
            </a:r>
            <a:r>
              <a:rPr lang="zh-CN" altLang="en-US" dirty="0" smtClean="0"/>
              <a:t>为年龄</a:t>
            </a:r>
            <a:r>
              <a:rPr lang="en-US" altLang="zh-CN" dirty="0"/>
              <a:t>_</a:t>
            </a:r>
            <a:r>
              <a:rPr lang="zh-CN" altLang="en-US" dirty="0"/>
              <a:t>身高</a:t>
            </a:r>
            <a:r>
              <a:rPr lang="en-US" altLang="zh-CN" dirty="0"/>
              <a:t>_</a:t>
            </a:r>
            <a:r>
              <a:rPr lang="zh-CN" altLang="en-US" dirty="0"/>
              <a:t>体重字段， 进行分析。</a:t>
            </a:r>
            <a:r>
              <a:rPr lang="zh-CN" altLang="en-US" dirty="0"/>
              <a:t> </a:t>
            </a:r>
            <a:br>
              <a:rPr lang="zh-CN" altLang="en-US" dirty="0"/>
            </a:br>
            <a:r>
              <a:rPr lang="zh-CN" altLang="en-US" dirty="0"/>
              <a:t>标注类型 </a:t>
            </a:r>
            <a:r>
              <a:rPr lang="en-US" altLang="zh-CN" b="1" dirty="0" err="1" smtClean="0"/>
              <a:t>headno</a:t>
            </a:r>
            <a:r>
              <a:rPr lang="zh-CN" altLang="en-US" b="1" dirty="0" smtClean="0"/>
              <a:t>（</a:t>
            </a:r>
            <a:r>
              <a:rPr lang="en-US" altLang="zh-CN" b="1" dirty="0" smtClean="0"/>
              <a:t>9</a:t>
            </a:r>
            <a:r>
              <a:rPr lang="zh-CN" altLang="en-US" b="1" dirty="0" smtClean="0"/>
              <a:t>个部位）</a:t>
            </a:r>
            <a:r>
              <a:rPr lang="zh-CN" altLang="en-US" dirty="0" smtClean="0"/>
              <a:t>：</a:t>
            </a:r>
            <a:r>
              <a:rPr lang="en-US" altLang="zh-CN" dirty="0" smtClean="0"/>
              <a:t> </a:t>
            </a:r>
            <a:r>
              <a:rPr lang="zh-CN" altLang="en-US" dirty="0" smtClean="0"/>
              <a:t>喉</a:t>
            </a:r>
            <a:r>
              <a:rPr lang="zh-CN" altLang="en-US" dirty="0"/>
              <a:t>部（</a:t>
            </a:r>
            <a:r>
              <a:rPr lang="en-US" altLang="zh-CN" dirty="0"/>
              <a:t>FT</a:t>
            </a:r>
            <a:r>
              <a:rPr lang="zh-CN" altLang="en-US" dirty="0"/>
              <a:t>）、左上部（</a:t>
            </a:r>
            <a:r>
              <a:rPr lang="en-US" altLang="zh-CN" dirty="0"/>
              <a:t>LU</a:t>
            </a:r>
            <a:r>
              <a:rPr lang="zh-CN" altLang="en-US" dirty="0"/>
              <a:t>）、左下部（</a:t>
            </a:r>
            <a:r>
              <a:rPr lang="en-US" altLang="zh-CN" dirty="0"/>
              <a:t>LD</a:t>
            </a:r>
            <a:r>
              <a:rPr lang="zh-CN" altLang="en-US" dirty="0"/>
              <a:t>）、右上部（</a:t>
            </a:r>
            <a:r>
              <a:rPr lang="en-US" altLang="zh-CN" dirty="0"/>
              <a:t>RU</a:t>
            </a:r>
            <a:r>
              <a:rPr lang="zh-CN" altLang="en-US" dirty="0"/>
              <a:t>）、右下部（</a:t>
            </a:r>
            <a:r>
              <a:rPr lang="en-US" altLang="zh-CN" dirty="0"/>
              <a:t>RD</a:t>
            </a:r>
            <a:r>
              <a:rPr lang="zh-CN" altLang="en-US" dirty="0"/>
              <a:t>）、右后部（</a:t>
            </a:r>
            <a:r>
              <a:rPr lang="en-US" altLang="zh-CN" dirty="0"/>
              <a:t>RB</a:t>
            </a:r>
            <a:r>
              <a:rPr lang="zh-CN" altLang="en-US" dirty="0"/>
              <a:t>）、右中部（</a:t>
            </a:r>
            <a:r>
              <a:rPr lang="en-US" altLang="zh-CN" dirty="0"/>
              <a:t>RM</a:t>
            </a:r>
            <a:r>
              <a:rPr lang="zh-CN" altLang="en-US" dirty="0"/>
              <a:t>）、 左中部（</a:t>
            </a:r>
            <a:r>
              <a:rPr lang="en-US" altLang="zh-CN" dirty="0"/>
              <a:t>LM</a:t>
            </a:r>
            <a:r>
              <a:rPr lang="zh-CN" altLang="en-US" dirty="0"/>
              <a:t>）、 左</a:t>
            </a:r>
            <a:r>
              <a:rPr lang="zh-CN" altLang="en-US" dirty="0" smtClean="0"/>
              <a:t>后部（</a:t>
            </a:r>
            <a:r>
              <a:rPr lang="en-US" altLang="zh-CN" dirty="0"/>
              <a:t>LB</a:t>
            </a:r>
            <a:r>
              <a:rPr lang="zh-CN" altLang="en-US" dirty="0"/>
              <a:t>）。</a:t>
            </a:r>
            <a:br>
              <a:rPr lang="zh-CN" altLang="en-US" dirty="0"/>
            </a:br>
            <a:r>
              <a:rPr lang="zh-CN" altLang="en-US" dirty="0"/>
              <a:t>肺音类型 </a:t>
            </a:r>
            <a:r>
              <a:rPr lang="en-US" altLang="zh-CN" b="1" dirty="0" err="1"/>
              <a:t>lungno</a:t>
            </a:r>
            <a:r>
              <a:rPr lang="zh-CN" altLang="en-US" dirty="0" smtClean="0"/>
              <a:t>：</a:t>
            </a:r>
            <a:r>
              <a:rPr lang="en-US" altLang="zh-CN" dirty="0" smtClean="0"/>
              <a:t>1 </a:t>
            </a:r>
            <a:r>
              <a:rPr lang="zh-CN" altLang="en-US" dirty="0"/>
              <a:t>正常 </a:t>
            </a:r>
            <a:r>
              <a:rPr lang="en-US" altLang="zh-CN" dirty="0"/>
              <a:t>2 </a:t>
            </a:r>
            <a:r>
              <a:rPr lang="zh-CN" altLang="en-US" dirty="0"/>
              <a:t>鼾音 </a:t>
            </a:r>
            <a:r>
              <a:rPr lang="en-US" altLang="zh-CN" dirty="0"/>
              <a:t>3 </a:t>
            </a:r>
            <a:r>
              <a:rPr lang="zh-CN" altLang="en-US" dirty="0"/>
              <a:t>爆裂音 </a:t>
            </a:r>
            <a:r>
              <a:rPr lang="en-US" altLang="zh-CN" dirty="0"/>
              <a:t>4 </a:t>
            </a:r>
            <a:r>
              <a:rPr lang="zh-CN" altLang="en-US" dirty="0"/>
              <a:t>捻发音 </a:t>
            </a:r>
            <a:r>
              <a:rPr lang="en-US" altLang="zh-CN" dirty="0"/>
              <a:t>5 </a:t>
            </a:r>
            <a:r>
              <a:rPr lang="zh-CN" altLang="en-US" dirty="0"/>
              <a:t>无罗音 </a:t>
            </a:r>
            <a:r>
              <a:rPr lang="en-US" altLang="zh-CN" dirty="0"/>
              <a:t>6 </a:t>
            </a:r>
            <a:r>
              <a:rPr lang="zh-CN" altLang="en-US" dirty="0"/>
              <a:t>哮鸣音 </a:t>
            </a:r>
            <a:r>
              <a:rPr lang="en-US" altLang="zh-CN" dirty="0"/>
              <a:t>7 </a:t>
            </a:r>
            <a:r>
              <a:rPr lang="zh-CN" altLang="en-US" dirty="0"/>
              <a:t>粗</a:t>
            </a:r>
            <a:r>
              <a:rPr lang="zh-CN" altLang="en-US" dirty="0" smtClean="0"/>
              <a:t>湿罗</a:t>
            </a:r>
            <a:r>
              <a:rPr lang="zh-CN" altLang="en-US" dirty="0"/>
              <a:t>音 </a:t>
            </a:r>
            <a:r>
              <a:rPr lang="en-US" altLang="zh-CN" dirty="0"/>
              <a:t>8 </a:t>
            </a:r>
            <a:r>
              <a:rPr lang="zh-CN" altLang="en-US" dirty="0"/>
              <a:t>细湿罗音 </a:t>
            </a:r>
            <a:r>
              <a:rPr lang="en-US" altLang="zh-CN" dirty="0"/>
              <a:t>9 </a:t>
            </a:r>
            <a:r>
              <a:rPr lang="zh-CN" altLang="en-US" dirty="0"/>
              <a:t>中湿罗音 </a:t>
            </a:r>
            <a:r>
              <a:rPr lang="en-US" altLang="zh-CN" dirty="0"/>
              <a:t>10 </a:t>
            </a:r>
            <a:r>
              <a:rPr lang="zh-CN" altLang="en-US" dirty="0"/>
              <a:t>干罗音 </a:t>
            </a:r>
            <a:r>
              <a:rPr lang="en-US" altLang="zh-CN" dirty="0"/>
              <a:t>11 </a:t>
            </a:r>
            <a:r>
              <a:rPr lang="zh-CN" altLang="en-US" dirty="0"/>
              <a:t>湿罗音 </a:t>
            </a:r>
            <a:r>
              <a:rPr lang="en-US" altLang="zh-CN" dirty="0"/>
              <a:t>12 </a:t>
            </a:r>
            <a:r>
              <a:rPr lang="zh-CN" altLang="en-US" dirty="0"/>
              <a:t>干湿罗音</a:t>
            </a:r>
            <a:r>
              <a:rPr lang="zh-CN" altLang="en-US" dirty="0"/>
              <a:t> </a:t>
            </a:r>
            <a:br>
              <a:rPr lang="zh-CN" altLang="en-US" dirty="0"/>
            </a:br>
            <a:r>
              <a:rPr lang="zh-CN" altLang="en-US" dirty="0"/>
              <a:t>性别 </a:t>
            </a:r>
            <a:r>
              <a:rPr lang="en-US" altLang="zh-CN" b="1" dirty="0"/>
              <a:t>gender</a:t>
            </a:r>
            <a:r>
              <a:rPr lang="zh-CN" altLang="en-US" dirty="0"/>
              <a:t>： </a:t>
            </a:r>
            <a:r>
              <a:rPr lang="en-US" altLang="zh-CN" dirty="0"/>
              <a:t>0 </a:t>
            </a:r>
            <a:r>
              <a:rPr lang="zh-CN" altLang="en-US" dirty="0"/>
              <a:t>男性 </a:t>
            </a:r>
            <a:r>
              <a:rPr lang="en-US" altLang="zh-CN" dirty="0"/>
              <a:t>1 </a:t>
            </a:r>
            <a:r>
              <a:rPr lang="zh-CN" altLang="en-US" dirty="0"/>
              <a:t>女性</a:t>
            </a:r>
            <a:br>
              <a:rPr lang="zh-CN" altLang="en-US" dirty="0"/>
            </a:br>
            <a:r>
              <a:rPr lang="zh-CN" altLang="en-US" dirty="0"/>
              <a:t>吸烟情况 </a:t>
            </a:r>
            <a:r>
              <a:rPr lang="en-US" altLang="zh-CN" b="1" dirty="0" err="1"/>
              <a:t>smokeno</a:t>
            </a:r>
            <a:r>
              <a:rPr lang="zh-CN" altLang="en-US" dirty="0"/>
              <a:t>： </a:t>
            </a:r>
            <a:r>
              <a:rPr lang="en-US" altLang="zh-CN" dirty="0"/>
              <a:t>0 </a:t>
            </a:r>
            <a:r>
              <a:rPr lang="zh-CN" altLang="en-US" dirty="0"/>
              <a:t>没有数据 </a:t>
            </a:r>
            <a:r>
              <a:rPr lang="en-US" altLang="zh-CN" dirty="0"/>
              <a:t>1 </a:t>
            </a:r>
            <a:r>
              <a:rPr lang="zh-CN" altLang="en-US" dirty="0"/>
              <a:t>现在吸烟 </a:t>
            </a:r>
            <a:r>
              <a:rPr lang="en-US" altLang="zh-CN" dirty="0"/>
              <a:t>2 </a:t>
            </a:r>
            <a:r>
              <a:rPr lang="zh-CN" altLang="en-US" dirty="0"/>
              <a:t>曾经吸烟 </a:t>
            </a:r>
            <a:r>
              <a:rPr lang="en-US" altLang="zh-CN" dirty="0"/>
              <a:t>3 </a:t>
            </a:r>
            <a:r>
              <a:rPr lang="zh-CN" altLang="en-US" dirty="0"/>
              <a:t>从不吸烟</a:t>
            </a:r>
            <a:r>
              <a:rPr lang="zh-CN" altLang="en-US" dirty="0"/>
              <a:t> </a:t>
            </a:r>
            <a:br>
              <a:rPr lang="zh-CN" altLang="en-US" dirty="0"/>
            </a:br>
            <a:r>
              <a:rPr lang="zh-CN" altLang="en-US" dirty="0"/>
              <a:t/>
            </a:r>
            <a:br>
              <a:rPr lang="zh-CN" altLang="en-US" dirty="0"/>
            </a:br>
            <a:endParaRPr lang="zh-CN" altLang="en-US" b="0" dirty="0" smtClean="0">
              <a:latin typeface="黑体" panose="02010609060101010101" charset="-122"/>
              <a:ea typeface="黑体" panose="02010609060101010101" charset="-122"/>
              <a:cs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1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原始数据集</a:t>
              </a:r>
              <a:endParaRPr lang="zh-CN" altLang="en-US" sz="2400" dirty="0" smtClean="0">
                <a:solidFill>
                  <a:schemeClr val="bg1"/>
                </a:solidFill>
                <a:latin typeface="黑体" panose="02010609060101010101" charset="-122"/>
                <a:ea typeface="黑体" panose="02010609060101010101" charset="-122"/>
              </a:endParaRPr>
            </a:p>
          </p:txBody>
        </p:sp>
      </p:gr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 y="988300"/>
            <a:ext cx="9144000" cy="873304"/>
          </a:xfrm>
          <a:prstGeom prst="rect">
            <a:avLst/>
          </a:prstGeom>
        </p:spPr>
      </p:pic>
    </p:spTree>
    <p:extLst>
      <p:ext uri="{BB962C8B-B14F-4D97-AF65-F5344CB8AC3E}">
        <p14:creationId xmlns:p14="http://schemas.microsoft.com/office/powerpoint/2010/main" val="314212477"/>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5</a:t>
            </a:fld>
            <a:endParaRPr lang="zh-CN" altLang="en-US" sz="900"/>
          </a:p>
        </p:txBody>
      </p:sp>
      <p:sp>
        <p:nvSpPr>
          <p:cNvPr id="10" name="文本框 9"/>
          <p:cNvSpPr txBox="1"/>
          <p:nvPr/>
        </p:nvSpPr>
        <p:spPr>
          <a:xfrm>
            <a:off x="405130" y="1090295"/>
            <a:ext cx="7531735" cy="1172629"/>
          </a:xfrm>
          <a:prstGeom prst="rect">
            <a:avLst/>
          </a:prstGeom>
          <a:noFill/>
          <a:ln w="9525">
            <a:noFill/>
          </a:ln>
        </p:spPr>
        <p:txBody>
          <a:bodyPr wrap="square">
            <a:spAutoFit/>
          </a:bodyPr>
          <a:lstStyle/>
          <a:p>
            <a:pPr>
              <a:lnSpc>
                <a:spcPct val="130000"/>
              </a:lnSpc>
            </a:pPr>
            <a:r>
              <a:rPr lang="zh-CN" altLang="en-US" dirty="0"/>
              <a:t>按肺音类型</a:t>
            </a:r>
            <a:r>
              <a:rPr lang="zh-CN" altLang="en-US" dirty="0" smtClean="0"/>
              <a:t>统计： </a:t>
            </a:r>
            <a:r>
              <a:rPr lang="zh-CN" altLang="en-US" dirty="0"/>
              <a:t/>
            </a:r>
            <a:br>
              <a:rPr lang="zh-CN" altLang="en-US" dirty="0"/>
            </a:br>
            <a:r>
              <a:rPr lang="zh-CN" altLang="en-US" dirty="0"/>
              <a:t/>
            </a:r>
            <a:br>
              <a:rPr lang="zh-CN" altLang="en-US" dirty="0"/>
            </a:br>
            <a:endParaRPr lang="zh-CN" altLang="en-US" b="0" dirty="0" smtClean="0">
              <a:latin typeface="黑体" panose="02010609060101010101" charset="-122"/>
              <a:ea typeface="黑体" panose="02010609060101010101" charset="-122"/>
              <a:cs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1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原始数据集</a:t>
              </a:r>
              <a:endParaRPr lang="zh-CN" altLang="en-US" sz="2400" dirty="0" smtClean="0">
                <a:solidFill>
                  <a:schemeClr val="bg1"/>
                </a:solidFill>
                <a:latin typeface="黑体" panose="02010609060101010101" charset="-122"/>
                <a:ea typeface="黑体" panose="02010609060101010101" charset="-122"/>
              </a:endParaRPr>
            </a:p>
          </p:txBody>
        </p:sp>
      </p:gr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 y="1558978"/>
            <a:ext cx="9144000" cy="4311544"/>
          </a:xfrm>
          <a:prstGeom prst="rect">
            <a:avLst/>
          </a:prstGeom>
        </p:spPr>
      </p:pic>
    </p:spTree>
    <p:extLst>
      <p:ext uri="{BB962C8B-B14F-4D97-AF65-F5344CB8AC3E}">
        <p14:creationId xmlns:p14="http://schemas.microsoft.com/office/powerpoint/2010/main" val="424125310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6</a:t>
            </a:fld>
            <a:endParaRPr lang="zh-CN" altLang="en-US" sz="900"/>
          </a:p>
        </p:txBody>
      </p:sp>
      <p:sp>
        <p:nvSpPr>
          <p:cNvPr id="10" name="文本框 9"/>
          <p:cNvSpPr txBox="1"/>
          <p:nvPr/>
        </p:nvSpPr>
        <p:spPr>
          <a:xfrm>
            <a:off x="405130" y="1090295"/>
            <a:ext cx="7531735" cy="812530"/>
          </a:xfrm>
          <a:prstGeom prst="rect">
            <a:avLst/>
          </a:prstGeom>
          <a:noFill/>
          <a:ln w="9525">
            <a:noFill/>
          </a:ln>
        </p:spPr>
        <p:txBody>
          <a:bodyPr wrap="square">
            <a:spAutoFit/>
          </a:bodyPr>
          <a:lstStyle/>
          <a:p>
            <a:pPr>
              <a:lnSpc>
                <a:spcPct val="130000"/>
              </a:lnSpc>
            </a:pPr>
            <a:r>
              <a:rPr lang="zh-CN" altLang="en-US" dirty="0" smtClean="0"/>
              <a:t>按标注类型分布：</a:t>
            </a:r>
            <a:r>
              <a:rPr lang="zh-CN" altLang="en-US" dirty="0"/>
              <a:t/>
            </a:r>
            <a:br>
              <a:rPr lang="zh-CN" altLang="en-US" dirty="0"/>
            </a:br>
            <a:endParaRPr lang="zh-CN" altLang="en-US" b="0" dirty="0" smtClean="0">
              <a:latin typeface="黑体" panose="02010609060101010101" charset="-122"/>
              <a:ea typeface="黑体" panose="02010609060101010101" charset="-122"/>
              <a:cs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1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原始数据集</a:t>
              </a:r>
              <a:endParaRPr lang="zh-CN" altLang="en-US" sz="2400" dirty="0" smtClean="0">
                <a:solidFill>
                  <a:schemeClr val="bg1"/>
                </a:solidFill>
                <a:latin typeface="黑体" panose="02010609060101010101" charset="-122"/>
                <a:ea typeface="黑体" panose="02010609060101010101" charset="-122"/>
              </a:endParaRPr>
            </a:p>
          </p:txBody>
        </p:sp>
      </p:gr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 y="1577340"/>
            <a:ext cx="7731718" cy="4550410"/>
          </a:xfrm>
          <a:prstGeom prst="rect">
            <a:avLst/>
          </a:prstGeom>
        </p:spPr>
      </p:pic>
    </p:spTree>
    <p:extLst>
      <p:ext uri="{BB962C8B-B14F-4D97-AF65-F5344CB8AC3E}">
        <p14:creationId xmlns:p14="http://schemas.microsoft.com/office/powerpoint/2010/main" val="428191749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7</a:t>
            </a:fld>
            <a:endParaRPr lang="zh-CN" altLang="en-US" sz="900"/>
          </a:p>
        </p:txBody>
      </p:sp>
      <p:sp>
        <p:nvSpPr>
          <p:cNvPr id="10" name="文本框 9"/>
          <p:cNvSpPr txBox="1"/>
          <p:nvPr/>
        </p:nvSpPr>
        <p:spPr>
          <a:xfrm>
            <a:off x="405130" y="1090295"/>
            <a:ext cx="7531735" cy="812530"/>
          </a:xfrm>
          <a:prstGeom prst="rect">
            <a:avLst/>
          </a:prstGeom>
          <a:noFill/>
          <a:ln w="9525">
            <a:noFill/>
          </a:ln>
        </p:spPr>
        <p:txBody>
          <a:bodyPr wrap="square">
            <a:spAutoFit/>
          </a:bodyPr>
          <a:lstStyle/>
          <a:p>
            <a:pPr>
              <a:lnSpc>
                <a:spcPct val="130000"/>
              </a:lnSpc>
            </a:pPr>
            <a:r>
              <a:rPr lang="zh-CN" altLang="en-US" dirty="0" smtClean="0"/>
              <a:t>按性别和吸烟状况分布：</a:t>
            </a:r>
            <a:r>
              <a:rPr lang="zh-CN" altLang="en-US" dirty="0"/>
              <a:t/>
            </a:r>
            <a:br>
              <a:rPr lang="zh-CN" altLang="en-US" dirty="0"/>
            </a:br>
            <a:endParaRPr lang="zh-CN" altLang="en-US" b="0" dirty="0" smtClean="0">
              <a:latin typeface="黑体" panose="02010609060101010101" charset="-122"/>
              <a:ea typeface="黑体" panose="02010609060101010101" charset="-122"/>
              <a:cs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1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原始数据集</a:t>
              </a:r>
              <a:endParaRPr lang="zh-CN" altLang="en-US" sz="2400" dirty="0" smtClean="0">
                <a:solidFill>
                  <a:schemeClr val="bg1"/>
                </a:solidFill>
                <a:latin typeface="黑体" panose="02010609060101010101" charset="-122"/>
                <a:ea typeface="黑体" panose="02010609060101010101" charset="-122"/>
              </a:endParaRPr>
            </a:p>
          </p:txBody>
        </p:sp>
      </p:gr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 y="1808990"/>
            <a:ext cx="8629650" cy="3971540"/>
          </a:xfrm>
          <a:prstGeom prst="rect">
            <a:avLst/>
          </a:prstGeom>
        </p:spPr>
      </p:pic>
    </p:spTree>
    <p:extLst>
      <p:ext uri="{BB962C8B-B14F-4D97-AF65-F5344CB8AC3E}">
        <p14:creationId xmlns:p14="http://schemas.microsoft.com/office/powerpoint/2010/main" val="1348608452"/>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A99A888-F0A6-497F-A203-744BF10280CF}" type="slidenum">
              <a:rPr lang="zh-CN" altLang="en-US" sz="900" smtClean="0">
                <a:latin typeface="黑体" panose="02010609060101010101" charset="-122"/>
                <a:ea typeface="黑体" panose="02010609060101010101" charset="-122"/>
              </a:rPr>
              <a:pPr/>
              <a:t>8</a:t>
            </a:fld>
            <a:endParaRPr lang="zh-CN" altLang="en-US" sz="900" smtClean="0">
              <a:latin typeface="黑体" panose="02010609060101010101" charset="-122"/>
              <a:ea typeface="黑体" panose="02010609060101010101" charset="-122"/>
            </a:endParaRPr>
          </a:p>
        </p:txBody>
      </p:sp>
      <p:grpSp>
        <p:nvGrpSpPr>
          <p:cNvPr id="43" name="组合 42"/>
          <p:cNvGrpSpPr/>
          <p:nvPr/>
        </p:nvGrpSpPr>
        <p:grpSpPr>
          <a:xfrm>
            <a:off x="1920240" y="1386840"/>
            <a:ext cx="6087110" cy="617855"/>
            <a:chOff x="1098018" y="1340446"/>
            <a:chExt cx="6947964" cy="737210"/>
          </a:xfrm>
        </p:grpSpPr>
        <p:sp>
          <p:nvSpPr>
            <p:cNvPr id="44" name="任意多边形 43"/>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a:latin typeface="黑体" panose="02010609060101010101" charset="-122"/>
                  <a:ea typeface="黑体" panose="02010609060101010101" charset="-122"/>
                </a:rPr>
                <a:t>原始数据集</a:t>
              </a:r>
              <a:endParaRPr lang="zh-CN" altLang="en-US" dirty="0">
                <a:latin typeface="黑体" panose="02010609060101010101" charset="-122"/>
                <a:ea typeface="黑体" panose="02010609060101010101" charset="-122"/>
              </a:endParaRPr>
            </a:p>
          </p:txBody>
        </p:sp>
        <p:sp>
          <p:nvSpPr>
            <p:cNvPr id="45" name="任意多边形 44"/>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1</a:t>
              </a:r>
              <a:endParaRPr lang="en-US" altLang="zh-CN" sz="3200" kern="1200" dirty="0" smtClean="0">
                <a:latin typeface="黑体" panose="02010609060101010101" charset="-122"/>
                <a:ea typeface="黑体" panose="02010609060101010101" charset="-122"/>
              </a:endParaRPr>
            </a:p>
          </p:txBody>
        </p:sp>
      </p:grpSp>
      <p:grpSp>
        <p:nvGrpSpPr>
          <p:cNvPr id="46" name="组合 45"/>
          <p:cNvGrpSpPr/>
          <p:nvPr/>
        </p:nvGrpSpPr>
        <p:grpSpPr>
          <a:xfrm>
            <a:off x="1920240" y="2131060"/>
            <a:ext cx="6087110" cy="617855"/>
            <a:chOff x="1098018" y="2124042"/>
            <a:chExt cx="6947964" cy="737210"/>
          </a:xfrm>
          <a:solidFill>
            <a:srgbClr val="802358">
              <a:alpha val="10000"/>
            </a:srgbClr>
          </a:solidFill>
        </p:grpSpPr>
        <p:sp>
          <p:nvSpPr>
            <p:cNvPr id="47" name="任意多边形 46"/>
            <p:cNvSpPr/>
            <p:nvPr/>
          </p:nvSpPr>
          <p:spPr>
            <a:xfrm>
              <a:off x="2699790" y="2188239"/>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grp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b="1" dirty="0" smtClean="0">
                  <a:solidFill>
                    <a:srgbClr val="FF0000"/>
                  </a:solidFill>
                  <a:latin typeface="黑体" panose="02010609060101010101" charset="-122"/>
                  <a:ea typeface="黑体" panose="02010609060101010101" charset="-122"/>
                </a:rPr>
                <a:t>实验数据集</a:t>
              </a:r>
              <a:endParaRPr lang="zh-CN" b="1" dirty="0" smtClean="0">
                <a:solidFill>
                  <a:srgbClr val="FF0000"/>
                </a:solidFill>
                <a:latin typeface="黑体" panose="02010609060101010101" charset="-122"/>
                <a:ea typeface="黑体" panose="02010609060101010101" charset="-122"/>
              </a:endParaRPr>
            </a:p>
          </p:txBody>
        </p:sp>
        <p:sp>
          <p:nvSpPr>
            <p:cNvPr id="48" name="任意多边形 47"/>
            <p:cNvSpPr/>
            <p:nvPr/>
          </p:nvSpPr>
          <p:spPr>
            <a:xfrm>
              <a:off x="1098018" y="2124042"/>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dirty="0" smtClean="0">
                  <a:latin typeface="黑体" panose="02010609060101010101" charset="-122"/>
                  <a:ea typeface="黑体" panose="02010609060101010101" charset="-122"/>
                </a:rPr>
                <a:t>2</a:t>
              </a:r>
            </a:p>
          </p:txBody>
        </p:sp>
      </p:grpSp>
      <p:grpSp>
        <p:nvGrpSpPr>
          <p:cNvPr id="49" name="组合 48"/>
          <p:cNvGrpSpPr/>
          <p:nvPr/>
        </p:nvGrpSpPr>
        <p:grpSpPr>
          <a:xfrm>
            <a:off x="1920240" y="2860040"/>
            <a:ext cx="6087110" cy="617855"/>
            <a:chOff x="1098018" y="2888588"/>
            <a:chExt cx="6947964" cy="737210"/>
          </a:xfrm>
        </p:grpSpPr>
        <p:sp>
          <p:nvSpPr>
            <p:cNvPr id="50" name="任意多边形 49"/>
            <p:cNvSpPr/>
            <p:nvPr/>
          </p:nvSpPr>
          <p:spPr>
            <a:xfrm>
              <a:off x="2699790" y="296231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0" lvl="1" indent="-171450" defTabSz="711200">
                <a:lnSpc>
                  <a:spcPct val="90000"/>
                </a:lnSpc>
                <a:spcBef>
                  <a:spcPct val="0"/>
                </a:spcBef>
                <a:spcAft>
                  <a:spcPct val="15000"/>
                </a:spcAft>
                <a:buChar char="•"/>
              </a:pPr>
              <a:r>
                <a:rPr dirty="0" err="1" smtClean="0">
                  <a:latin typeface="黑体" panose="02010609060101010101" charset="-122"/>
                  <a:ea typeface="黑体" panose="02010609060101010101" charset="-122"/>
                </a:rPr>
                <a:t>肺音的</a:t>
              </a:r>
              <a:r>
                <a:rPr lang="zh-CN" altLang="en-US" dirty="0" smtClean="0">
                  <a:latin typeface="黑体" panose="02010609060101010101" charset="-122"/>
                  <a:ea typeface="黑体" panose="02010609060101010101" charset="-122"/>
                </a:rPr>
                <a:t>医学特性</a:t>
              </a:r>
              <a:endParaRPr lang="zh-CN" dirty="0" smtClean="0">
                <a:latin typeface="黑体" panose="02010609060101010101" charset="-122"/>
                <a:ea typeface="黑体" panose="02010609060101010101" charset="-122"/>
              </a:endParaRPr>
            </a:p>
          </p:txBody>
        </p:sp>
        <p:sp>
          <p:nvSpPr>
            <p:cNvPr id="51" name="任意多边形 50"/>
            <p:cNvSpPr/>
            <p:nvPr/>
          </p:nvSpPr>
          <p:spPr>
            <a:xfrm>
              <a:off x="1098018" y="2888588"/>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3</a:t>
              </a:r>
              <a:endParaRPr lang="en-US" altLang="zh-CN" sz="3200" kern="1200" dirty="0" smtClean="0">
                <a:latin typeface="黑体" panose="02010609060101010101" charset="-122"/>
                <a:ea typeface="黑体" panose="02010609060101010101" charset="-122"/>
              </a:endParaRPr>
            </a:p>
          </p:txBody>
        </p:sp>
      </p:grpSp>
      <p:grpSp>
        <p:nvGrpSpPr>
          <p:cNvPr id="52" name="组合 51"/>
          <p:cNvGrpSpPr/>
          <p:nvPr/>
        </p:nvGrpSpPr>
        <p:grpSpPr>
          <a:xfrm>
            <a:off x="1920240" y="3596640"/>
            <a:ext cx="6087110" cy="617855"/>
            <a:chOff x="1098018" y="3662660"/>
            <a:chExt cx="6947964" cy="737210"/>
          </a:xfrm>
        </p:grpSpPr>
        <p:sp>
          <p:nvSpPr>
            <p:cNvPr id="53" name="任意多边形 52"/>
            <p:cNvSpPr/>
            <p:nvPr/>
          </p:nvSpPr>
          <p:spPr>
            <a:xfrm>
              <a:off x="2699790" y="373638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dirty="0" smtClean="0">
                  <a:latin typeface="黑体" panose="02010609060101010101" charset="-122"/>
                  <a:ea typeface="黑体" panose="02010609060101010101" charset="-122"/>
                  <a:sym typeface="+mn-ea"/>
                </a:rPr>
                <a:t>肺音的特征提取</a:t>
              </a:r>
              <a:endParaRPr lang="zh-CN" altLang="en-US" dirty="0" smtClean="0">
                <a:latin typeface="黑体" panose="02010609060101010101" charset="-122"/>
                <a:ea typeface="黑体" panose="02010609060101010101" charset="-122"/>
                <a:sym typeface="+mn-ea"/>
              </a:endParaRPr>
            </a:p>
          </p:txBody>
        </p:sp>
        <p:sp>
          <p:nvSpPr>
            <p:cNvPr id="54" name="任意多边形 53"/>
            <p:cNvSpPr/>
            <p:nvPr/>
          </p:nvSpPr>
          <p:spPr>
            <a:xfrm>
              <a:off x="1098018" y="3662660"/>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4</a:t>
              </a:r>
              <a:endParaRPr lang="en-US" altLang="zh-CN" sz="3200" kern="1200" dirty="0" smtClean="0">
                <a:latin typeface="黑体" panose="02010609060101010101" charset="-122"/>
                <a:ea typeface="黑体" panose="02010609060101010101" charset="-122"/>
              </a:endParaRPr>
            </a:p>
          </p:txBody>
        </p:sp>
      </p:grpSp>
      <p:grpSp>
        <p:nvGrpSpPr>
          <p:cNvPr id="55" name="组合 54"/>
          <p:cNvGrpSpPr/>
          <p:nvPr/>
        </p:nvGrpSpPr>
        <p:grpSpPr>
          <a:xfrm>
            <a:off x="1920240" y="4332605"/>
            <a:ext cx="6087110" cy="617855"/>
            <a:chOff x="1098018" y="4436731"/>
            <a:chExt cx="6947964" cy="737210"/>
          </a:xfrm>
        </p:grpSpPr>
        <p:sp>
          <p:nvSpPr>
            <p:cNvPr id="56" name="任意多边形 55"/>
            <p:cNvSpPr/>
            <p:nvPr/>
          </p:nvSpPr>
          <p:spPr>
            <a:xfrm>
              <a:off x="2699790" y="4510453"/>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a:latin typeface="黑体" panose="02010609060101010101" charset="-122"/>
                  <a:ea typeface="黑体" panose="02010609060101010101" charset="-122"/>
                  <a:sym typeface="+mn-ea"/>
                </a:rPr>
                <a:t>肺音分类的相关方法</a:t>
              </a:r>
            </a:p>
          </p:txBody>
        </p:sp>
        <p:sp>
          <p:nvSpPr>
            <p:cNvPr id="57" name="任意多边形 56"/>
            <p:cNvSpPr/>
            <p:nvPr/>
          </p:nvSpPr>
          <p:spPr>
            <a:xfrm>
              <a:off x="1098018" y="4436731"/>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5</a:t>
              </a:r>
              <a:endParaRPr lang="en-US" altLang="zh-CN" sz="3200" kern="1200" dirty="0" smtClean="0">
                <a:latin typeface="黑体" panose="02010609060101010101" charset="-122"/>
                <a:ea typeface="黑体" panose="02010609060101010101" charset="-122"/>
              </a:endParaRPr>
            </a:p>
          </p:txBody>
        </p:sp>
      </p:grpSp>
      <p:pic>
        <p:nvPicPr>
          <p:cNvPr id="16396" name="图片 1"/>
          <p:cNvPicPr>
            <a:picLocks noChangeAspect="1"/>
          </p:cNvPicPr>
          <p:nvPr/>
        </p:nvPicPr>
        <p:blipFill>
          <a:blip r:embed="rId3" cstate="print"/>
          <a:stretch>
            <a:fillRect/>
          </a:stretch>
        </p:blipFill>
        <p:spPr>
          <a:xfrm>
            <a:off x="1158875" y="2185035"/>
            <a:ext cx="639445" cy="459105"/>
          </a:xfrm>
          <a:prstGeom prst="rect">
            <a:avLst/>
          </a:prstGeom>
          <a:noFill/>
          <a:ln w="9525">
            <a:noFill/>
          </a:ln>
        </p:spPr>
      </p:pic>
      <p:grpSp>
        <p:nvGrpSpPr>
          <p:cNvPr id="3" name="组合 2"/>
          <p:cNvGrpSpPr/>
          <p:nvPr/>
        </p:nvGrpSpPr>
        <p:grpSpPr>
          <a:xfrm>
            <a:off x="3810" y="356869"/>
            <a:ext cx="2741295" cy="460375"/>
            <a:chOff x="0" y="522689"/>
            <a:chExt cx="3422416" cy="508886"/>
          </a:xfrm>
          <a:solidFill>
            <a:srgbClr val="802358"/>
          </a:solidFill>
        </p:grpSpPr>
        <p:grpSp>
          <p:nvGrpSpPr>
            <p:cNvPr id="9" name="组合 8"/>
            <p:cNvGrpSpPr/>
            <p:nvPr/>
          </p:nvGrpSpPr>
          <p:grpSpPr>
            <a:xfrm>
              <a:off x="0" y="533201"/>
              <a:ext cx="3422416" cy="492760"/>
              <a:chOff x="0" y="278653"/>
              <a:chExt cx="3422416" cy="492760"/>
            </a:xfrm>
            <a:grpFill/>
          </p:grpSpPr>
          <p:sp>
            <p:nvSpPr>
              <p:cNvPr id="13" name="矩形 12"/>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4" name="直角三角形 13"/>
              <p:cNvSpPr/>
              <p:nvPr/>
            </p:nvSpPr>
            <p:spPr>
              <a:xfrm>
                <a:off x="3083571"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5"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zh-CN" altLang="en-US" sz="2400" dirty="0" smtClean="0">
                  <a:solidFill>
                    <a:schemeClr val="bg1"/>
                  </a:solidFill>
                  <a:latin typeface="黑体" panose="02010609060101010101" charset="-122"/>
                  <a:ea typeface="黑体" panose="02010609060101010101" charset="-122"/>
                </a:rPr>
                <a:t>目   录</a:t>
              </a:r>
            </a:p>
          </p:txBody>
        </p:sp>
      </p:gr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9</a:t>
            </a:fld>
            <a:endParaRPr lang="zh-CN" altLang="en-US" sz="900"/>
          </a:p>
        </p:txBody>
      </p:sp>
      <p:sp>
        <p:nvSpPr>
          <p:cNvPr id="10" name="文本框 9"/>
          <p:cNvSpPr txBox="1"/>
          <p:nvPr/>
        </p:nvSpPr>
        <p:spPr>
          <a:xfrm>
            <a:off x="405130" y="1090295"/>
            <a:ext cx="7531735" cy="2252924"/>
          </a:xfrm>
          <a:prstGeom prst="rect">
            <a:avLst/>
          </a:prstGeom>
          <a:noFill/>
          <a:ln w="9525">
            <a:noFill/>
          </a:ln>
        </p:spPr>
        <p:txBody>
          <a:bodyPr wrap="square">
            <a:spAutoFit/>
          </a:bodyPr>
          <a:lstStyle/>
          <a:p>
            <a:pPr>
              <a:lnSpc>
                <a:spcPct val="130000"/>
              </a:lnSpc>
            </a:pPr>
            <a:r>
              <a:rPr lang="zh-CN" altLang="zh-CN" dirty="0" smtClean="0"/>
              <a:t>以</a:t>
            </a:r>
            <a:r>
              <a:rPr lang="zh-CN" altLang="zh-CN" dirty="0"/>
              <a:t>人工筛选的方式，</a:t>
            </a:r>
            <a:r>
              <a:rPr lang="zh-CN" altLang="zh-CN" dirty="0" smtClean="0"/>
              <a:t>对</a:t>
            </a:r>
            <a:r>
              <a:rPr lang="zh-CN" altLang="en-US" dirty="0" smtClean="0"/>
              <a:t>数据集</a:t>
            </a:r>
            <a:r>
              <a:rPr lang="zh-CN" altLang="zh-CN" dirty="0" smtClean="0"/>
              <a:t>样本</a:t>
            </a:r>
            <a:r>
              <a:rPr lang="zh-CN" altLang="zh-CN" dirty="0"/>
              <a:t>进行挑选，筛选标准为：音频中无明显人为噪声（如说话声）、环境噪声及设备噪声</a:t>
            </a:r>
            <a:r>
              <a:rPr lang="zh-CN" altLang="zh-CN" dirty="0" smtClean="0"/>
              <a:t>。最终，筛选</a:t>
            </a:r>
            <a:r>
              <a:rPr lang="zh-CN" altLang="zh-CN" dirty="0"/>
              <a:t>后的肺音样本数据集，共</a:t>
            </a:r>
            <a:r>
              <a:rPr lang="en-US" altLang="zh-CN" dirty="0"/>
              <a:t>3432</a:t>
            </a:r>
            <a:r>
              <a:rPr lang="zh-CN" altLang="zh-CN" dirty="0"/>
              <a:t>个肺音样本，包含</a:t>
            </a:r>
            <a:r>
              <a:rPr lang="en-US" altLang="zh-CN" dirty="0"/>
              <a:t>4</a:t>
            </a:r>
            <a:r>
              <a:rPr lang="zh-CN" altLang="zh-CN" dirty="0"/>
              <a:t>种类型肺音，分别为正常音、鼾音、哮鸣音、湿罗音。</a:t>
            </a:r>
            <a:r>
              <a:rPr lang="zh-CN" altLang="en-US" dirty="0"/>
              <a:t/>
            </a:r>
            <a:br>
              <a:rPr lang="zh-CN" altLang="en-US" dirty="0"/>
            </a:br>
            <a:r>
              <a:rPr lang="zh-CN" altLang="zh-CN" dirty="0"/>
              <a:t>肺音类型</a:t>
            </a:r>
            <a:r>
              <a:rPr lang="zh-CN" altLang="zh-CN" dirty="0" smtClean="0"/>
              <a:t>分布图</a:t>
            </a:r>
            <a:r>
              <a:rPr lang="zh-CN" altLang="en-US" dirty="0" smtClean="0"/>
              <a:t>：</a:t>
            </a:r>
            <a:r>
              <a:rPr lang="zh-CN" altLang="en-US" dirty="0"/>
              <a:t/>
            </a:r>
            <a:br>
              <a:rPr lang="zh-CN" altLang="en-US" dirty="0"/>
            </a:br>
            <a:endParaRPr lang="zh-CN" altLang="en-US" b="0" dirty="0" smtClean="0">
              <a:latin typeface="黑体" panose="02010609060101010101" charset="-122"/>
              <a:ea typeface="黑体" panose="02010609060101010101" charset="-122"/>
              <a:cs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2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实验数据集</a:t>
              </a:r>
              <a:endParaRPr lang="zh-CN" altLang="en-US" sz="2400" dirty="0" smtClean="0">
                <a:solidFill>
                  <a:schemeClr val="bg1"/>
                </a:solidFill>
                <a:latin typeface="黑体" panose="02010609060101010101" charset="-122"/>
                <a:ea typeface="黑体" panose="02010609060101010101" charset="-122"/>
              </a:endParaRPr>
            </a:p>
          </p:txBody>
        </p:sp>
      </p:gr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4984" y="3081337"/>
            <a:ext cx="4935856" cy="3125153"/>
          </a:xfrm>
          <a:prstGeom prst="rect">
            <a:avLst/>
          </a:prstGeom>
        </p:spPr>
      </p:pic>
    </p:spTree>
    <p:extLst>
      <p:ext uri="{BB962C8B-B14F-4D97-AF65-F5344CB8AC3E}">
        <p14:creationId xmlns:p14="http://schemas.microsoft.com/office/powerpoint/2010/main" val="335063476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10</a:t>
            </a:fld>
            <a:endParaRPr lang="zh-CN" altLang="en-US" sz="900"/>
          </a:p>
        </p:txBody>
      </p:sp>
      <p:sp>
        <p:nvSpPr>
          <p:cNvPr id="10" name="文本框 9"/>
          <p:cNvSpPr txBox="1"/>
          <p:nvPr/>
        </p:nvSpPr>
        <p:spPr>
          <a:xfrm>
            <a:off x="405130" y="1090295"/>
            <a:ext cx="7531735" cy="1532727"/>
          </a:xfrm>
          <a:prstGeom prst="rect">
            <a:avLst/>
          </a:prstGeom>
          <a:noFill/>
          <a:ln w="9525">
            <a:noFill/>
          </a:ln>
        </p:spPr>
        <p:txBody>
          <a:bodyPr wrap="square">
            <a:spAutoFit/>
          </a:bodyPr>
          <a:lstStyle/>
          <a:p>
            <a:pPr>
              <a:lnSpc>
                <a:spcPct val="130000"/>
              </a:lnSpc>
            </a:pPr>
            <a:r>
              <a:rPr lang="zh-CN" altLang="zh-CN" dirty="0"/>
              <a:t>将采集数据集分为正常音和异常音两类，其中异常</a:t>
            </a:r>
            <a:r>
              <a:rPr lang="zh-CN" altLang="zh-CN" dirty="0" smtClean="0"/>
              <a:t>音包括</a:t>
            </a:r>
            <a:r>
              <a:rPr lang="zh-CN" altLang="zh-CN" dirty="0"/>
              <a:t>鼾音、哮鸣音和湿罗音。</a:t>
            </a:r>
            <a:r>
              <a:rPr lang="zh-CN" altLang="en-US" dirty="0" smtClean="0"/>
              <a:t>按采集部位统计： </a:t>
            </a:r>
            <a:r>
              <a:rPr lang="zh-CN" altLang="en-US" dirty="0"/>
              <a:t/>
            </a:r>
            <a:br>
              <a:rPr lang="zh-CN" altLang="en-US" dirty="0"/>
            </a:br>
            <a:r>
              <a:rPr lang="zh-CN" altLang="en-US" dirty="0"/>
              <a:t/>
            </a:r>
            <a:br>
              <a:rPr lang="zh-CN" altLang="en-US" dirty="0"/>
            </a:br>
            <a:endParaRPr lang="zh-CN" altLang="en-US" b="0" dirty="0" smtClean="0">
              <a:latin typeface="黑体" panose="02010609060101010101" charset="-122"/>
              <a:ea typeface="黑体" panose="02010609060101010101" charset="-122"/>
              <a:cs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2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实验数据集</a:t>
              </a:r>
              <a:endParaRPr lang="zh-CN" altLang="en-US" sz="2400" dirty="0" smtClean="0">
                <a:solidFill>
                  <a:schemeClr val="bg1"/>
                </a:solidFill>
                <a:latin typeface="黑体" panose="02010609060101010101" charset="-122"/>
                <a:ea typeface="黑体" panose="02010609060101010101" charset="-122"/>
              </a:endParaRPr>
            </a:p>
          </p:txBody>
        </p:sp>
      </p:gr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095" y="1856658"/>
            <a:ext cx="7303770" cy="4320788"/>
          </a:xfrm>
          <a:prstGeom prst="rect">
            <a:avLst/>
          </a:prstGeom>
        </p:spPr>
      </p:pic>
    </p:spTree>
    <p:extLst>
      <p:ext uri="{BB962C8B-B14F-4D97-AF65-F5344CB8AC3E}">
        <p14:creationId xmlns:p14="http://schemas.microsoft.com/office/powerpoint/2010/main" val="3603824309"/>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A99A888-F0A6-497F-A203-744BF10280CF}" type="slidenum">
              <a:rPr lang="zh-CN" altLang="en-US" sz="900" smtClean="0">
                <a:latin typeface="黑体" panose="02010609060101010101" charset="-122"/>
                <a:ea typeface="黑体" panose="02010609060101010101" charset="-122"/>
              </a:rPr>
              <a:pPr/>
              <a:t>11</a:t>
            </a:fld>
            <a:endParaRPr lang="zh-CN" altLang="en-US" sz="900" smtClean="0">
              <a:latin typeface="黑体" panose="02010609060101010101" charset="-122"/>
              <a:ea typeface="黑体" panose="02010609060101010101" charset="-122"/>
            </a:endParaRPr>
          </a:p>
        </p:txBody>
      </p:sp>
      <p:grpSp>
        <p:nvGrpSpPr>
          <p:cNvPr id="43" name="组合 42"/>
          <p:cNvGrpSpPr/>
          <p:nvPr/>
        </p:nvGrpSpPr>
        <p:grpSpPr>
          <a:xfrm>
            <a:off x="1920240" y="1386840"/>
            <a:ext cx="6087110" cy="617855"/>
            <a:chOff x="1098018" y="1340446"/>
            <a:chExt cx="6947964" cy="737210"/>
          </a:xfrm>
        </p:grpSpPr>
        <p:sp>
          <p:nvSpPr>
            <p:cNvPr id="44" name="任意多边形 43"/>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kern="1200" dirty="0" smtClean="0">
                  <a:solidFill>
                    <a:schemeClr val="tx1"/>
                  </a:solidFill>
                  <a:latin typeface="黑体" panose="02010609060101010101" charset="-122"/>
                  <a:ea typeface="黑体" panose="02010609060101010101" charset="-122"/>
                </a:rPr>
                <a:t>原始数据集</a:t>
              </a:r>
              <a:endParaRPr lang="zh-CN" altLang="en-US" kern="1200" dirty="0" smtClean="0">
                <a:solidFill>
                  <a:schemeClr val="tx1"/>
                </a:solidFill>
                <a:latin typeface="黑体" panose="02010609060101010101" charset="-122"/>
                <a:ea typeface="黑体" panose="02010609060101010101" charset="-122"/>
              </a:endParaRPr>
            </a:p>
          </p:txBody>
        </p:sp>
        <p:sp>
          <p:nvSpPr>
            <p:cNvPr id="45" name="任意多边形 44"/>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1</a:t>
              </a:r>
              <a:endParaRPr lang="en-US" altLang="zh-CN" sz="3200" kern="1200" dirty="0" smtClean="0">
                <a:latin typeface="黑体" panose="02010609060101010101" charset="-122"/>
                <a:ea typeface="黑体" panose="02010609060101010101" charset="-122"/>
              </a:endParaRPr>
            </a:p>
          </p:txBody>
        </p:sp>
      </p:grpSp>
      <p:grpSp>
        <p:nvGrpSpPr>
          <p:cNvPr id="46" name="组合 45"/>
          <p:cNvGrpSpPr/>
          <p:nvPr/>
        </p:nvGrpSpPr>
        <p:grpSpPr>
          <a:xfrm>
            <a:off x="1920240" y="2131060"/>
            <a:ext cx="6087110" cy="617855"/>
            <a:chOff x="1098018" y="2124042"/>
            <a:chExt cx="6947964" cy="737210"/>
          </a:xfrm>
          <a:solidFill>
            <a:srgbClr val="802358">
              <a:alpha val="10000"/>
            </a:srgbClr>
          </a:solidFill>
        </p:grpSpPr>
        <p:sp>
          <p:nvSpPr>
            <p:cNvPr id="47" name="任意多边形 46"/>
            <p:cNvSpPr/>
            <p:nvPr/>
          </p:nvSpPr>
          <p:spPr>
            <a:xfrm>
              <a:off x="2699790" y="2188239"/>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grp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smtClean="0">
                  <a:solidFill>
                    <a:schemeClr val="tx1"/>
                  </a:solidFill>
                  <a:latin typeface="黑体" panose="02010609060101010101" charset="-122"/>
                  <a:ea typeface="黑体" panose="02010609060101010101" charset="-122"/>
                </a:rPr>
                <a:t>实验数据集</a:t>
              </a:r>
              <a:endParaRPr lang="zh-CN" dirty="0" smtClean="0">
                <a:solidFill>
                  <a:schemeClr val="tx1"/>
                </a:solidFill>
                <a:latin typeface="黑体" panose="02010609060101010101" charset="-122"/>
                <a:ea typeface="黑体" panose="02010609060101010101" charset="-122"/>
              </a:endParaRPr>
            </a:p>
          </p:txBody>
        </p:sp>
        <p:sp>
          <p:nvSpPr>
            <p:cNvPr id="48" name="任意多边形 47"/>
            <p:cNvSpPr/>
            <p:nvPr/>
          </p:nvSpPr>
          <p:spPr>
            <a:xfrm>
              <a:off x="1098018" y="2124042"/>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2</a:t>
              </a:r>
              <a:endParaRPr lang="en-US" altLang="zh-CN" sz="3200" kern="1200" dirty="0" smtClean="0">
                <a:latin typeface="黑体" panose="02010609060101010101" charset="-122"/>
                <a:ea typeface="黑体" panose="02010609060101010101" charset="-122"/>
              </a:endParaRPr>
            </a:p>
          </p:txBody>
        </p:sp>
      </p:grpSp>
      <p:grpSp>
        <p:nvGrpSpPr>
          <p:cNvPr id="49" name="组合 48"/>
          <p:cNvGrpSpPr/>
          <p:nvPr/>
        </p:nvGrpSpPr>
        <p:grpSpPr>
          <a:xfrm>
            <a:off x="1920240" y="2860040"/>
            <a:ext cx="6087110" cy="617855"/>
            <a:chOff x="1098018" y="2888588"/>
            <a:chExt cx="6947964" cy="737210"/>
          </a:xfrm>
        </p:grpSpPr>
        <p:sp>
          <p:nvSpPr>
            <p:cNvPr id="50" name="任意多边形 49"/>
            <p:cNvSpPr/>
            <p:nvPr/>
          </p:nvSpPr>
          <p:spPr>
            <a:xfrm>
              <a:off x="2699790" y="296231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0" lvl="1" indent="-171450" algn="l" defTabSz="711200">
                <a:lnSpc>
                  <a:spcPct val="90000"/>
                </a:lnSpc>
                <a:spcAft>
                  <a:spcPct val="15000"/>
                </a:spcAft>
                <a:buChar char="•"/>
              </a:pPr>
              <a:r>
                <a:rPr lang="zh-CN" altLang="en-US" b="1" dirty="0">
                  <a:solidFill>
                    <a:srgbClr val="FF0000"/>
                  </a:solidFill>
                  <a:latin typeface="黑体" panose="02010609060101010101" charset="-122"/>
                  <a:ea typeface="黑体" panose="02010609060101010101" charset="-122"/>
                </a:rPr>
                <a:t>肺</a:t>
              </a:r>
              <a:r>
                <a:rPr lang="zh-CN" altLang="en-US" b="1" dirty="0" smtClean="0">
                  <a:solidFill>
                    <a:srgbClr val="FF0000"/>
                  </a:solidFill>
                  <a:latin typeface="黑体" panose="02010609060101010101" charset="-122"/>
                  <a:ea typeface="黑体" panose="02010609060101010101" charset="-122"/>
                </a:rPr>
                <a:t>音的</a:t>
              </a:r>
              <a:r>
                <a:rPr lang="zh-CN" altLang="en-US" b="1" dirty="0" smtClean="0">
                  <a:solidFill>
                    <a:srgbClr val="FF0000"/>
                  </a:solidFill>
                  <a:latin typeface="黑体" panose="02010609060101010101" charset="-122"/>
                  <a:ea typeface="黑体" panose="02010609060101010101" charset="-122"/>
                </a:rPr>
                <a:t>医学特性</a:t>
              </a:r>
              <a:endParaRPr b="1" dirty="0" smtClean="0">
                <a:solidFill>
                  <a:srgbClr val="FF0000"/>
                </a:solidFill>
                <a:latin typeface="黑体" panose="02010609060101010101" charset="-122"/>
                <a:ea typeface="黑体" panose="02010609060101010101" charset="-122"/>
              </a:endParaRPr>
            </a:p>
          </p:txBody>
        </p:sp>
        <p:sp>
          <p:nvSpPr>
            <p:cNvPr id="51" name="任意多边形 50"/>
            <p:cNvSpPr/>
            <p:nvPr/>
          </p:nvSpPr>
          <p:spPr>
            <a:xfrm>
              <a:off x="1098018" y="2888588"/>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3</a:t>
              </a:r>
              <a:endParaRPr lang="en-US" altLang="zh-CN" sz="3200" kern="1200" dirty="0" smtClean="0">
                <a:latin typeface="黑体" panose="02010609060101010101" charset="-122"/>
                <a:ea typeface="黑体" panose="02010609060101010101" charset="-122"/>
              </a:endParaRPr>
            </a:p>
          </p:txBody>
        </p:sp>
      </p:grpSp>
      <p:grpSp>
        <p:nvGrpSpPr>
          <p:cNvPr id="52" name="组合 51"/>
          <p:cNvGrpSpPr/>
          <p:nvPr/>
        </p:nvGrpSpPr>
        <p:grpSpPr>
          <a:xfrm>
            <a:off x="1920240" y="3596640"/>
            <a:ext cx="6087110" cy="617855"/>
            <a:chOff x="1098018" y="3662660"/>
            <a:chExt cx="6947964" cy="737210"/>
          </a:xfrm>
        </p:grpSpPr>
        <p:sp>
          <p:nvSpPr>
            <p:cNvPr id="53" name="任意多边形 52"/>
            <p:cNvSpPr/>
            <p:nvPr/>
          </p:nvSpPr>
          <p:spPr>
            <a:xfrm>
              <a:off x="2699790" y="373638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dirty="0" smtClean="0">
                  <a:latin typeface="黑体" panose="02010609060101010101" charset="-122"/>
                  <a:ea typeface="黑体" panose="02010609060101010101" charset="-122"/>
                  <a:sym typeface="+mn-ea"/>
                </a:rPr>
                <a:t>肺音的特征提取</a:t>
              </a:r>
              <a:endParaRPr lang="zh-CN" altLang="en-US" dirty="0" smtClean="0">
                <a:latin typeface="黑体" panose="02010609060101010101" charset="-122"/>
                <a:ea typeface="黑体" panose="02010609060101010101" charset="-122"/>
                <a:sym typeface="+mn-ea"/>
              </a:endParaRPr>
            </a:p>
          </p:txBody>
        </p:sp>
        <p:sp>
          <p:nvSpPr>
            <p:cNvPr id="54" name="任意多边形 53"/>
            <p:cNvSpPr/>
            <p:nvPr/>
          </p:nvSpPr>
          <p:spPr>
            <a:xfrm>
              <a:off x="1098018" y="3662660"/>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4</a:t>
              </a:r>
              <a:endParaRPr lang="en-US" altLang="zh-CN" sz="3200" kern="1200" dirty="0" smtClean="0">
                <a:latin typeface="黑体" panose="02010609060101010101" charset="-122"/>
                <a:ea typeface="黑体" panose="02010609060101010101" charset="-122"/>
              </a:endParaRPr>
            </a:p>
          </p:txBody>
        </p:sp>
      </p:grpSp>
      <p:grpSp>
        <p:nvGrpSpPr>
          <p:cNvPr id="55" name="组合 54"/>
          <p:cNvGrpSpPr/>
          <p:nvPr/>
        </p:nvGrpSpPr>
        <p:grpSpPr>
          <a:xfrm>
            <a:off x="1920240" y="4332605"/>
            <a:ext cx="6087110" cy="617855"/>
            <a:chOff x="1098018" y="4436731"/>
            <a:chExt cx="6947964" cy="737210"/>
          </a:xfrm>
        </p:grpSpPr>
        <p:sp>
          <p:nvSpPr>
            <p:cNvPr id="56" name="任意多边形 55"/>
            <p:cNvSpPr/>
            <p:nvPr/>
          </p:nvSpPr>
          <p:spPr>
            <a:xfrm>
              <a:off x="2699790" y="4510453"/>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a:latin typeface="黑体" panose="02010609060101010101" charset="-122"/>
                  <a:ea typeface="黑体" panose="02010609060101010101" charset="-122"/>
                  <a:sym typeface="+mn-ea"/>
                </a:rPr>
                <a:t>肺音分类的相关方法</a:t>
              </a:r>
            </a:p>
          </p:txBody>
        </p:sp>
        <p:sp>
          <p:nvSpPr>
            <p:cNvPr id="57" name="任意多边形 56"/>
            <p:cNvSpPr/>
            <p:nvPr/>
          </p:nvSpPr>
          <p:spPr>
            <a:xfrm>
              <a:off x="1098018" y="4436731"/>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5</a:t>
              </a:r>
              <a:endParaRPr lang="en-US" altLang="zh-CN" sz="3200" kern="1200" dirty="0" smtClean="0">
                <a:latin typeface="黑体" panose="02010609060101010101" charset="-122"/>
                <a:ea typeface="黑体" panose="02010609060101010101" charset="-122"/>
              </a:endParaRPr>
            </a:p>
          </p:txBody>
        </p:sp>
      </p:grpSp>
      <p:pic>
        <p:nvPicPr>
          <p:cNvPr id="16396" name="图片 1"/>
          <p:cNvPicPr>
            <a:picLocks noChangeAspect="1"/>
          </p:cNvPicPr>
          <p:nvPr/>
        </p:nvPicPr>
        <p:blipFill>
          <a:blip r:embed="rId3" cstate="print"/>
          <a:stretch>
            <a:fillRect/>
          </a:stretch>
        </p:blipFill>
        <p:spPr>
          <a:xfrm>
            <a:off x="1002665" y="2921635"/>
            <a:ext cx="639445" cy="459105"/>
          </a:xfrm>
          <a:prstGeom prst="rect">
            <a:avLst/>
          </a:prstGeom>
          <a:noFill/>
          <a:ln w="9525">
            <a:noFill/>
          </a:ln>
        </p:spPr>
      </p:pic>
      <p:grpSp>
        <p:nvGrpSpPr>
          <p:cNvPr id="3" name="组合 2"/>
          <p:cNvGrpSpPr/>
          <p:nvPr/>
        </p:nvGrpSpPr>
        <p:grpSpPr>
          <a:xfrm>
            <a:off x="3810" y="356869"/>
            <a:ext cx="2741295" cy="460375"/>
            <a:chOff x="0" y="522689"/>
            <a:chExt cx="3422416" cy="508886"/>
          </a:xfrm>
          <a:solidFill>
            <a:srgbClr val="802358"/>
          </a:solidFill>
        </p:grpSpPr>
        <p:grpSp>
          <p:nvGrpSpPr>
            <p:cNvPr id="9" name="组合 8"/>
            <p:cNvGrpSpPr/>
            <p:nvPr/>
          </p:nvGrpSpPr>
          <p:grpSpPr>
            <a:xfrm>
              <a:off x="0" y="533201"/>
              <a:ext cx="3422416" cy="492760"/>
              <a:chOff x="0" y="278653"/>
              <a:chExt cx="3422416" cy="492760"/>
            </a:xfrm>
            <a:grpFill/>
          </p:grpSpPr>
          <p:sp>
            <p:nvSpPr>
              <p:cNvPr id="13" name="矩形 12"/>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4" name="直角三角形 13"/>
              <p:cNvSpPr/>
              <p:nvPr/>
            </p:nvSpPr>
            <p:spPr>
              <a:xfrm>
                <a:off x="3083571"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5"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zh-CN" altLang="en-US" sz="2400" dirty="0" smtClean="0">
                  <a:solidFill>
                    <a:schemeClr val="bg1"/>
                  </a:solidFill>
                  <a:latin typeface="黑体" panose="02010609060101010101" charset="-122"/>
                  <a:ea typeface="黑体" panose="02010609060101010101" charset="-122"/>
                </a:rPr>
                <a:t>目   录</a:t>
              </a:r>
            </a:p>
          </p:txBody>
        </p:sp>
      </p:grpSp>
    </p:spTree>
    <p:extLst>
      <p:ext uri="{BB962C8B-B14F-4D97-AF65-F5344CB8AC3E}">
        <p14:creationId xmlns:p14="http://schemas.microsoft.com/office/powerpoint/2010/main" val="1408561898"/>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12</a:t>
            </a:fld>
            <a:endParaRPr lang="zh-CN" altLang="en-US" sz="900"/>
          </a:p>
        </p:txBody>
      </p:sp>
      <p:sp>
        <p:nvSpPr>
          <p:cNvPr id="10" name="文本框 9"/>
          <p:cNvSpPr txBox="1"/>
          <p:nvPr/>
        </p:nvSpPr>
        <p:spPr>
          <a:xfrm>
            <a:off x="405130" y="808990"/>
            <a:ext cx="8186420" cy="2689860"/>
          </a:xfrm>
          <a:prstGeom prst="rect">
            <a:avLst/>
          </a:prstGeom>
          <a:noFill/>
          <a:ln w="9525">
            <a:noFill/>
          </a:ln>
        </p:spPr>
        <p:txBody>
          <a:bodyPr wrap="square">
            <a:spAutoFit/>
          </a:bodyPr>
          <a:lstStyle/>
          <a:p>
            <a:pPr marL="285750" indent="-285750" algn="l">
              <a:lnSpc>
                <a:spcPct val="130000"/>
              </a:lnSpc>
              <a:buFont typeface="Wingdings" panose="05000000000000000000" charset="0"/>
              <a:buChar char=""/>
            </a:pPr>
            <a:r>
              <a:rPr lang="zh-CN" altLang="en-US" sz="2000" dirty="0" smtClean="0">
                <a:latin typeface="黑体" panose="02010609060101010101" charset="-122"/>
                <a:ea typeface="黑体" panose="02010609060101010101" charset="-122"/>
                <a:cs typeface="+mn-ea"/>
                <a:sym typeface="+mn-ea"/>
              </a:rPr>
              <a:t>肺音的生理特性</a:t>
            </a:r>
          </a:p>
          <a:p>
            <a:pPr marL="742950" lvl="1" indent="-285750" algn="l">
              <a:lnSpc>
                <a:spcPct val="130000"/>
              </a:lnSpc>
              <a:buFont typeface="Arial" panose="020B0604020202020204" pitchFamily="34" charset="0"/>
              <a:buChar char="•"/>
            </a:pPr>
            <a:r>
              <a:rPr lang="zh-CN" altLang="en-US" dirty="0" smtClean="0">
                <a:latin typeface="黑体" panose="02010609060101010101" charset="-122"/>
                <a:ea typeface="黑体" panose="02010609060101010101" charset="-122"/>
                <a:cs typeface="+mn-ea"/>
                <a:sym typeface="+mn-ea"/>
              </a:rPr>
              <a:t>肺音是呼吸过程中气流的运动方式改变，形成涡流或湍流产生的声波</a:t>
            </a:r>
          </a:p>
          <a:p>
            <a:pPr marL="742950" lvl="1" indent="-285750" algn="l">
              <a:lnSpc>
                <a:spcPct val="130000"/>
              </a:lnSpc>
              <a:buFont typeface="Arial" panose="020B0604020202020204" pitchFamily="34" charset="0"/>
              <a:buChar char="•"/>
            </a:pPr>
            <a:r>
              <a:rPr lang="zh-CN" altLang="en-US" dirty="0" smtClean="0">
                <a:latin typeface="黑体" panose="02010609060101010101" charset="-122"/>
                <a:ea typeface="黑体" panose="02010609060101010101" charset="-122"/>
                <a:cs typeface="+mn-ea"/>
                <a:sym typeface="+mn-ea"/>
              </a:rPr>
              <a:t>频带宽，显性的肺音频率</a:t>
            </a:r>
            <a:r>
              <a:rPr lang="zh-CN" altLang="en-US" dirty="0" smtClean="0">
                <a:latin typeface="黑体" panose="02010609060101010101" charset="-122"/>
                <a:ea typeface="黑体" panose="02010609060101010101" charset="-122"/>
                <a:cs typeface="+mn-ea"/>
                <a:sym typeface="+mn-ea"/>
              </a:rPr>
              <a:t>在</a:t>
            </a:r>
            <a:r>
              <a:rPr lang="en-US" altLang="zh-CN" dirty="0" smtClean="0">
                <a:latin typeface="黑体" panose="02010609060101010101" charset="-122"/>
                <a:ea typeface="黑体" panose="02010609060101010101" charset="-122"/>
                <a:cs typeface="+mn-ea"/>
                <a:sym typeface="+mn-ea"/>
              </a:rPr>
              <a:t>5</a:t>
            </a:r>
            <a:r>
              <a:rPr lang="zh-CN" altLang="en-US" dirty="0" smtClean="0">
                <a:latin typeface="黑体" panose="02010609060101010101" charset="-122"/>
                <a:ea typeface="黑体" panose="02010609060101010101" charset="-122"/>
                <a:cs typeface="+mn-ea"/>
                <a:sym typeface="+mn-ea"/>
              </a:rPr>
              <a:t>0</a:t>
            </a:r>
            <a:r>
              <a:rPr lang="zh-CN" altLang="en-US" dirty="0" smtClean="0">
                <a:latin typeface="黑体" panose="02010609060101010101" charset="-122"/>
                <a:ea typeface="黑体" panose="02010609060101010101" charset="-122"/>
                <a:cs typeface="+mn-ea"/>
                <a:sym typeface="+mn-ea"/>
              </a:rPr>
              <a:t>Hz </a:t>
            </a:r>
            <a:r>
              <a:rPr lang="en-US" altLang="zh-CN" dirty="0" smtClean="0">
                <a:latin typeface="黑体" panose="02010609060101010101" charset="-122"/>
                <a:ea typeface="黑体" panose="02010609060101010101" charset="-122"/>
                <a:cs typeface="+mn-ea"/>
                <a:sym typeface="+mn-ea"/>
              </a:rPr>
              <a:t>~ </a:t>
            </a:r>
            <a:r>
              <a:rPr lang="zh-CN" altLang="en-US" dirty="0" smtClean="0">
                <a:latin typeface="黑体" panose="02010609060101010101" charset="-122"/>
                <a:ea typeface="黑体" panose="02010609060101010101" charset="-122"/>
                <a:cs typeface="+mn-ea"/>
                <a:sym typeface="+mn-ea"/>
              </a:rPr>
              <a:t>2000Hz</a:t>
            </a:r>
          </a:p>
          <a:p>
            <a:pPr marL="742950" lvl="1" indent="-285750" algn="l">
              <a:lnSpc>
                <a:spcPct val="130000"/>
              </a:lnSpc>
              <a:buFont typeface="Arial" panose="020B0604020202020204" pitchFamily="34" charset="0"/>
              <a:buChar char="•"/>
            </a:pPr>
            <a:r>
              <a:rPr lang="zh-CN" altLang="en-US" dirty="0" smtClean="0">
                <a:latin typeface="黑体" panose="02010609060101010101" charset="-122"/>
                <a:ea typeface="黑体" panose="02010609060101010101" charset="-122"/>
                <a:cs typeface="+mn-ea"/>
                <a:sym typeface="+mn-ea"/>
              </a:rPr>
              <a:t>不同类型肺音在音调高低、持续时间长短、声音强度等方面属性有区别</a:t>
            </a:r>
          </a:p>
          <a:p>
            <a:pPr marL="285750" indent="-285750" algn="l">
              <a:lnSpc>
                <a:spcPct val="130000"/>
              </a:lnSpc>
              <a:buFont typeface="Wingdings" panose="05000000000000000000" charset="0"/>
              <a:buChar char=""/>
            </a:pPr>
            <a:r>
              <a:rPr lang="zh-CN" altLang="en-US" sz="2000" dirty="0" smtClean="0">
                <a:latin typeface="黑体" panose="02010609060101010101" charset="-122"/>
                <a:ea typeface="黑体" panose="02010609060101010101" charset="-122"/>
                <a:cs typeface="+mn-ea"/>
                <a:sym typeface="+mn-ea"/>
              </a:rPr>
              <a:t>病理性肺音种类</a:t>
            </a:r>
            <a:endParaRPr lang="zh-CN" altLang="en-US" sz="2000" b="0" dirty="0" smtClean="0">
              <a:latin typeface="黑体" panose="02010609060101010101" charset="-122"/>
              <a:ea typeface="黑体" panose="02010609060101010101" charset="-122"/>
              <a:cs typeface="+mn-ea"/>
              <a:sym typeface="+mn-ea"/>
            </a:endParaRPr>
          </a:p>
          <a:p>
            <a:pPr marL="742950" lvl="1" indent="-285750" algn="l">
              <a:lnSpc>
                <a:spcPct val="130000"/>
              </a:lnSpc>
              <a:buFont typeface="Arial" panose="020B0604020202020204" pitchFamily="34" charset="0"/>
              <a:buChar char="•"/>
            </a:pPr>
            <a:r>
              <a:rPr lang="zh-CN" altLang="en-US" dirty="0" smtClean="0">
                <a:latin typeface="黑体" panose="02010609060101010101" charset="-122"/>
                <a:ea typeface="黑体" panose="02010609060101010101" charset="-122"/>
                <a:cs typeface="+mn-ea"/>
                <a:sym typeface="+mn-ea"/>
              </a:rPr>
              <a:t>肺部病理音是正常肺音中混入突发音，包括干罗音和湿罗音。不同种类的异常音发病原理不同，所引起的肺部疾病也有所不同</a:t>
            </a:r>
            <a:endParaRPr lang="zh-CN" altLang="en-US" b="0" dirty="0" smtClean="0">
              <a:latin typeface="黑体" panose="02010609060101010101" charset="-122"/>
              <a:ea typeface="黑体" panose="02010609060101010101" charset="-122"/>
              <a:cs typeface="+mn-ea"/>
              <a:sym typeface="+mn-ea"/>
            </a:endParaRPr>
          </a:p>
        </p:txBody>
      </p:sp>
      <p:grpSp>
        <p:nvGrpSpPr>
          <p:cNvPr id="11" name="组合 10"/>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16" name="矩形 1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7" name="直角三角形 1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8"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3</a:t>
              </a:r>
              <a:r>
                <a:rPr sz="2400" dirty="0" smtClean="0">
                  <a:solidFill>
                    <a:schemeClr val="bg1"/>
                  </a:solidFill>
                  <a:latin typeface="微软雅黑" panose="020B0503020204020204" pitchFamily="34" charset="-122"/>
                  <a:ea typeface="微软雅黑" panose="020B0503020204020204" pitchFamily="34" charset="-122"/>
                  <a:sym typeface="+mn-ea"/>
                </a:rPr>
                <a:t> </a:t>
              </a:r>
              <a:r>
                <a:rPr sz="2400" dirty="0" smtClean="0">
                  <a:solidFill>
                    <a:schemeClr val="bg1"/>
                  </a:solidFill>
                  <a:latin typeface="微软雅黑" panose="020B0503020204020204" pitchFamily="34" charset="-122"/>
                  <a:ea typeface="微软雅黑" panose="020B0503020204020204" pitchFamily="34" charset="-122"/>
                  <a:sym typeface="+mn-ea"/>
                </a:rPr>
                <a:t>肺音的医学特性</a:t>
              </a:r>
              <a:endParaRPr lang="zh-CN" altLang="en-US" sz="2400" dirty="0" smtClean="0">
                <a:solidFill>
                  <a:schemeClr val="bg1"/>
                </a:solidFill>
                <a:latin typeface="黑体" panose="02010609060101010101" charset="-122"/>
                <a:ea typeface="黑体" panose="02010609060101010101" charset="-122"/>
              </a:endParaRPr>
            </a:p>
          </p:txBody>
        </p:sp>
      </p:grpSp>
      <p:pic>
        <p:nvPicPr>
          <p:cNvPr id="9" name="图片 8"/>
          <p:cNvPicPr>
            <a:picLocks noChangeAspect="1"/>
          </p:cNvPicPr>
          <p:nvPr/>
        </p:nvPicPr>
        <p:blipFill>
          <a:blip r:embed="rId3" cstate="print"/>
          <a:srcRect l="5339" r="20980" b="6616"/>
          <a:stretch>
            <a:fillRect/>
          </a:stretch>
        </p:blipFill>
        <p:spPr>
          <a:xfrm>
            <a:off x="1971675" y="3632835"/>
            <a:ext cx="5053330" cy="25895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a:xfrm>
            <a:off x="6210300" y="6356350"/>
            <a:ext cx="2057400" cy="365125"/>
          </a:xfrm>
        </p:spPr>
        <p:txBody>
          <a:bodyPr/>
          <a:lstStyle/>
          <a:p>
            <a:fld id="{4A99A888-F0A6-497F-A203-744BF10280CF}" type="slidenum">
              <a:rPr lang="zh-CN" altLang="en-US" sz="900" smtClean="0"/>
              <a:pPr/>
              <a:t>13</a:t>
            </a:fld>
            <a:endParaRPr lang="zh-CN" altLang="en-US" sz="900"/>
          </a:p>
        </p:txBody>
      </p:sp>
      <p:sp>
        <p:nvSpPr>
          <p:cNvPr id="10" name="文本框 9"/>
          <p:cNvSpPr txBox="1"/>
          <p:nvPr/>
        </p:nvSpPr>
        <p:spPr>
          <a:xfrm>
            <a:off x="405130" y="1003300"/>
            <a:ext cx="3801110" cy="492443"/>
          </a:xfrm>
          <a:prstGeom prst="rect">
            <a:avLst/>
          </a:prstGeom>
          <a:noFill/>
          <a:ln w="9525">
            <a:noFill/>
          </a:ln>
        </p:spPr>
        <p:txBody>
          <a:bodyPr wrap="square">
            <a:spAutoFit/>
          </a:bodyPr>
          <a:lstStyle/>
          <a:p>
            <a:pPr marL="285750" indent="-285750" algn="l">
              <a:lnSpc>
                <a:spcPct val="130000"/>
              </a:lnSpc>
              <a:buFont typeface="Wingdings" panose="05000000000000000000" charset="0"/>
              <a:buChar char=""/>
            </a:pPr>
            <a:r>
              <a:rPr lang="zh-CN" altLang="en-US" sz="2000" dirty="0" smtClean="0">
                <a:latin typeface="黑体" panose="02010609060101010101" charset="-122"/>
                <a:ea typeface="黑体" panose="02010609060101010101" charset="-122"/>
                <a:cs typeface="+mn-ea"/>
                <a:sym typeface="+mn-ea"/>
              </a:rPr>
              <a:t>肺音</a:t>
            </a:r>
            <a:r>
              <a:rPr lang="zh-CN" altLang="en-US" sz="2000" dirty="0" smtClean="0">
                <a:latin typeface="黑体" panose="02010609060101010101" charset="-122"/>
                <a:ea typeface="黑体" panose="02010609060101010101" charset="-122"/>
                <a:cs typeface="+mn-ea"/>
                <a:sym typeface="+mn-ea"/>
              </a:rPr>
              <a:t>的波形图（时域）</a:t>
            </a:r>
            <a:endParaRPr lang="zh-CN" altLang="en-US" sz="2000" b="0" dirty="0" smtClean="0">
              <a:latin typeface="黑体" panose="02010609060101010101" charset="-122"/>
              <a:ea typeface="黑体" panose="02010609060101010101" charset="-122"/>
              <a:cs typeface="+mn-ea"/>
              <a:sym typeface="+mn-ea"/>
            </a:endParaRPr>
          </a:p>
        </p:txBody>
      </p:sp>
      <p:grpSp>
        <p:nvGrpSpPr>
          <p:cNvPr id="5" name="组合 4"/>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6" name="矩形 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7" name="直角三角形 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20"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3</a:t>
              </a:r>
              <a:r>
                <a:rPr sz="2400" dirty="0" smtClean="0">
                  <a:solidFill>
                    <a:schemeClr val="bg1"/>
                  </a:solidFill>
                  <a:latin typeface="微软雅黑" panose="020B0503020204020204" pitchFamily="34" charset="-122"/>
                  <a:ea typeface="微软雅黑" panose="020B0503020204020204" pitchFamily="34" charset="-122"/>
                  <a:sym typeface="+mn-ea"/>
                </a:rPr>
                <a:t> </a:t>
              </a:r>
              <a:r>
                <a:rPr sz="2400" dirty="0" smtClean="0">
                  <a:solidFill>
                    <a:schemeClr val="bg1"/>
                  </a:solidFill>
                  <a:latin typeface="微软雅黑" panose="020B0503020204020204" pitchFamily="34" charset="-122"/>
                  <a:ea typeface="微软雅黑" panose="020B0503020204020204" pitchFamily="34" charset="-122"/>
                  <a:sym typeface="+mn-ea"/>
                </a:rPr>
                <a:t>肺音的医学特性</a:t>
              </a:r>
              <a:endParaRPr lang="zh-CN" altLang="en-US" sz="2400" dirty="0" smtClean="0">
                <a:solidFill>
                  <a:schemeClr val="bg1"/>
                </a:solidFill>
                <a:latin typeface="黑体" panose="02010609060101010101" charset="-122"/>
                <a:ea typeface="黑体" panose="02010609060101010101" charset="-122"/>
              </a:endParaRPr>
            </a:p>
          </p:txBody>
        </p:sp>
      </p:grpSp>
      <p:pic>
        <p:nvPicPr>
          <p:cNvPr id="23" name="图片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160" y="1494790"/>
            <a:ext cx="3209925" cy="3314700"/>
          </a:xfrm>
          <a:prstGeom prst="rect">
            <a:avLst/>
          </a:prstGeom>
        </p:spPr>
      </p:pic>
      <p:pic>
        <p:nvPicPr>
          <p:cNvPr id="24" name="图片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5032" y="1427643"/>
            <a:ext cx="3210373" cy="3381847"/>
          </a:xfrm>
          <a:prstGeom prst="rect">
            <a:avLst/>
          </a:prstGeom>
        </p:spPr>
      </p:pic>
      <p:sp>
        <p:nvSpPr>
          <p:cNvPr id="27" name="文本框 26"/>
          <p:cNvSpPr txBox="1"/>
          <p:nvPr/>
        </p:nvSpPr>
        <p:spPr>
          <a:xfrm>
            <a:off x="405130" y="5021766"/>
            <a:ext cx="7988300" cy="812530"/>
          </a:xfrm>
          <a:prstGeom prst="rect">
            <a:avLst/>
          </a:prstGeom>
          <a:noFill/>
          <a:ln w="9525">
            <a:noFill/>
          </a:ln>
        </p:spPr>
        <p:txBody>
          <a:bodyPr wrap="square">
            <a:spAutoFit/>
          </a:bodyPr>
          <a:lstStyle/>
          <a:p>
            <a:pPr>
              <a:lnSpc>
                <a:spcPct val="130000"/>
              </a:lnSpc>
            </a:pPr>
            <a:r>
              <a:rPr lang="zh-CN" altLang="zh-CN" dirty="0"/>
              <a:t>正常呼吸音波形平稳均匀并掺杂噪声。鼾音和哮鸣音多发生于呼气期，持续较长时间</a:t>
            </a:r>
            <a:r>
              <a:rPr lang="zh-CN" altLang="zh-CN" dirty="0" smtClean="0"/>
              <a:t>。</a:t>
            </a:r>
            <a:r>
              <a:rPr lang="zh-CN" altLang="en-US" dirty="0" smtClean="0"/>
              <a:t>湿罗</a:t>
            </a:r>
            <a:r>
              <a:rPr lang="zh-CN" altLang="zh-CN" dirty="0" smtClean="0"/>
              <a:t>音</a:t>
            </a:r>
            <a:r>
              <a:rPr lang="zh-CN" altLang="zh-CN" dirty="0"/>
              <a:t>为间断性的附加音，持续时间较短，病理音多出现于吸气</a:t>
            </a:r>
            <a:r>
              <a:rPr lang="zh-CN" altLang="zh-CN" dirty="0" smtClean="0"/>
              <a:t>期</a:t>
            </a:r>
            <a:r>
              <a:rPr lang="zh-CN" altLang="en-US" dirty="0" smtClean="0"/>
              <a:t>。</a:t>
            </a:r>
            <a:endParaRPr lang="zh-CN" altLang="en-US" sz="2000" b="0" dirty="0" smtClean="0">
              <a:latin typeface="黑体" panose="02010609060101010101" charset="-122"/>
              <a:ea typeface="黑体" panose="02010609060101010101" charset="-122"/>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a:xfrm>
            <a:off x="6210300" y="6356350"/>
            <a:ext cx="2057400" cy="365125"/>
          </a:xfrm>
        </p:spPr>
        <p:txBody>
          <a:bodyPr/>
          <a:lstStyle/>
          <a:p>
            <a:fld id="{4A99A888-F0A6-497F-A203-744BF10280CF}" type="slidenum">
              <a:rPr lang="zh-CN" altLang="en-US" sz="900" smtClean="0"/>
              <a:pPr/>
              <a:t>14</a:t>
            </a:fld>
            <a:endParaRPr lang="zh-CN" altLang="en-US" sz="900"/>
          </a:p>
        </p:txBody>
      </p:sp>
      <p:sp>
        <p:nvSpPr>
          <p:cNvPr id="4" name="文本框 3"/>
          <p:cNvSpPr txBox="1"/>
          <p:nvPr/>
        </p:nvSpPr>
        <p:spPr>
          <a:xfrm>
            <a:off x="113030" y="1083310"/>
            <a:ext cx="3533140" cy="492443"/>
          </a:xfrm>
          <a:prstGeom prst="rect">
            <a:avLst/>
          </a:prstGeom>
          <a:noFill/>
          <a:ln w="9525">
            <a:noFill/>
          </a:ln>
        </p:spPr>
        <p:txBody>
          <a:bodyPr wrap="square">
            <a:spAutoFit/>
          </a:bodyPr>
          <a:lstStyle/>
          <a:p>
            <a:pPr marL="285750" indent="-285750" algn="l">
              <a:lnSpc>
                <a:spcPct val="130000"/>
              </a:lnSpc>
              <a:buFont typeface="Wingdings" panose="05000000000000000000" charset="0"/>
              <a:buChar char=""/>
            </a:pPr>
            <a:r>
              <a:rPr lang="zh-CN" altLang="en-US" sz="2000" dirty="0" smtClean="0">
                <a:latin typeface="黑体" panose="02010609060101010101" charset="-122"/>
                <a:ea typeface="黑体" panose="02010609060101010101" charset="-122"/>
                <a:cs typeface="+mn-ea"/>
                <a:sym typeface="+mn-ea"/>
              </a:rPr>
              <a:t>肺音</a:t>
            </a:r>
            <a:r>
              <a:rPr lang="zh-CN" altLang="en-US" sz="2000" dirty="0" smtClean="0">
                <a:latin typeface="黑体" panose="02010609060101010101" charset="-122"/>
                <a:ea typeface="黑体" panose="02010609060101010101" charset="-122"/>
                <a:cs typeface="+mn-ea"/>
                <a:sym typeface="+mn-ea"/>
              </a:rPr>
              <a:t>的频率分布图</a:t>
            </a:r>
            <a:endParaRPr lang="zh-CN" altLang="en-US" sz="2000" b="0" dirty="0" smtClean="0">
              <a:latin typeface="黑体" panose="02010609060101010101" charset="-122"/>
              <a:ea typeface="黑体" panose="02010609060101010101" charset="-122"/>
              <a:cs typeface="+mn-ea"/>
              <a:sym typeface="+mn-ea"/>
            </a:endParaRPr>
          </a:p>
        </p:txBody>
      </p:sp>
      <p:grpSp>
        <p:nvGrpSpPr>
          <p:cNvPr id="8" name="组合 7"/>
          <p:cNvGrpSpPr/>
          <p:nvPr/>
        </p:nvGrpSpPr>
        <p:grpSpPr>
          <a:xfrm>
            <a:off x="405318" y="1673860"/>
            <a:ext cx="6909882" cy="4345305"/>
            <a:chOff x="4932040" y="1268760"/>
            <a:chExt cx="3672408" cy="5037485"/>
          </a:xfrm>
        </p:grpSpPr>
        <p:pic>
          <p:nvPicPr>
            <p:cNvPr id="80898" name="图片 4" descr="C:\Users\liuming\Documents\Tencent Files\867317809\Image\C2C\DED6SUL})_B7EE4I7C)SX}O.png"/>
            <p:cNvPicPr>
              <a:picLocks noChangeAspect="1" noChangeArrowheads="1"/>
            </p:cNvPicPr>
            <p:nvPr/>
          </p:nvPicPr>
          <p:blipFill>
            <a:blip r:embed="rId3" cstate="print"/>
            <a:srcRect/>
            <a:stretch>
              <a:fillRect/>
            </a:stretch>
          </p:blipFill>
          <p:spPr bwMode="auto">
            <a:xfrm>
              <a:off x="5004048" y="1268760"/>
              <a:ext cx="3528392" cy="2313033"/>
            </a:xfrm>
            <a:prstGeom prst="rect">
              <a:avLst/>
            </a:prstGeom>
            <a:noFill/>
            <a:ln w="9525">
              <a:solidFill>
                <a:srgbClr val="00B050"/>
              </a:solidFill>
              <a:miter lim="800000"/>
              <a:headEnd/>
              <a:tailEnd/>
            </a:ln>
          </p:spPr>
        </p:pic>
        <p:pic>
          <p:nvPicPr>
            <p:cNvPr id="80899" name="图片 8" descr="C:\Users\liuming\Documents\Tencent Files\867317809\Image\C2C\JCXCT3ASS~9KD0HG1TEV39X.png"/>
            <p:cNvPicPr>
              <a:picLocks noChangeAspect="1" noChangeArrowheads="1"/>
            </p:cNvPicPr>
            <p:nvPr/>
          </p:nvPicPr>
          <p:blipFill>
            <a:blip r:embed="rId4" cstate="print"/>
            <a:srcRect/>
            <a:stretch>
              <a:fillRect/>
            </a:stretch>
          </p:blipFill>
          <p:spPr bwMode="auto">
            <a:xfrm>
              <a:off x="4932040" y="3717032"/>
              <a:ext cx="3672408" cy="2589213"/>
            </a:xfrm>
            <a:prstGeom prst="rect">
              <a:avLst/>
            </a:prstGeom>
            <a:noFill/>
            <a:ln w="9525">
              <a:solidFill>
                <a:srgbClr val="FF0000"/>
              </a:solidFill>
              <a:miter lim="800000"/>
              <a:headEnd/>
              <a:tailEnd/>
            </a:ln>
          </p:spPr>
        </p:pic>
      </p:grpSp>
      <p:sp>
        <p:nvSpPr>
          <p:cNvPr id="11" name="文本框 10"/>
          <p:cNvSpPr txBox="1"/>
          <p:nvPr/>
        </p:nvSpPr>
        <p:spPr>
          <a:xfrm>
            <a:off x="7743190" y="2505075"/>
            <a:ext cx="944880" cy="330835"/>
          </a:xfrm>
          <a:prstGeom prst="rect">
            <a:avLst/>
          </a:prstGeom>
          <a:noFill/>
        </p:spPr>
        <p:txBody>
          <a:bodyPr wrap="square" rtlCol="0">
            <a:spAutoFit/>
          </a:bodyPr>
          <a:lstStyle/>
          <a:p>
            <a:pPr indent="0">
              <a:lnSpc>
                <a:spcPct val="130000"/>
              </a:lnSpc>
              <a:buFont typeface="Wingdings" panose="05000000000000000000" charset="0"/>
              <a:buNone/>
            </a:pPr>
            <a:r>
              <a:rPr lang="zh-CN" altLang="en-US" sz="1200" dirty="0">
                <a:solidFill>
                  <a:schemeClr val="tx1">
                    <a:lumMod val="85000"/>
                    <a:lumOff val="15000"/>
                  </a:schemeClr>
                </a:solidFill>
                <a:latin typeface="黑体" panose="02010609060101010101" charset="-122"/>
                <a:ea typeface="黑体" panose="02010609060101010101" charset="-122"/>
                <a:cs typeface="+mn-ea"/>
                <a:sym typeface="+mn-lt"/>
              </a:rPr>
              <a:t>病理性肺音</a:t>
            </a:r>
          </a:p>
        </p:txBody>
      </p:sp>
      <p:sp>
        <p:nvSpPr>
          <p:cNvPr id="16" name="文本框 15"/>
          <p:cNvSpPr txBox="1"/>
          <p:nvPr/>
        </p:nvSpPr>
        <p:spPr>
          <a:xfrm>
            <a:off x="7816215" y="4678680"/>
            <a:ext cx="944880" cy="330835"/>
          </a:xfrm>
          <a:prstGeom prst="rect">
            <a:avLst/>
          </a:prstGeom>
          <a:noFill/>
        </p:spPr>
        <p:txBody>
          <a:bodyPr wrap="square" rtlCol="0">
            <a:spAutoFit/>
          </a:bodyPr>
          <a:lstStyle/>
          <a:p>
            <a:pPr indent="0">
              <a:lnSpc>
                <a:spcPct val="130000"/>
              </a:lnSpc>
              <a:buFont typeface="Wingdings" panose="05000000000000000000" charset="0"/>
              <a:buNone/>
            </a:pPr>
            <a:r>
              <a:rPr lang="zh-CN" altLang="en-US" sz="1200" dirty="0">
                <a:solidFill>
                  <a:schemeClr val="tx1">
                    <a:lumMod val="85000"/>
                    <a:lumOff val="15000"/>
                  </a:schemeClr>
                </a:solidFill>
                <a:latin typeface="黑体" panose="02010609060101010101" charset="-122"/>
                <a:ea typeface="黑体" panose="02010609060101010101" charset="-122"/>
                <a:cs typeface="+mn-ea"/>
                <a:sym typeface="+mn-lt"/>
              </a:rPr>
              <a:t>正常肺音</a:t>
            </a:r>
          </a:p>
        </p:txBody>
      </p:sp>
      <p:sp>
        <p:nvSpPr>
          <p:cNvPr id="17" name="右大括号 16"/>
          <p:cNvSpPr/>
          <p:nvPr/>
        </p:nvSpPr>
        <p:spPr>
          <a:xfrm>
            <a:off x="7493635" y="1684020"/>
            <a:ext cx="268605" cy="199580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sp>
        <p:nvSpPr>
          <p:cNvPr id="18" name="右大括号 17"/>
          <p:cNvSpPr/>
          <p:nvPr/>
        </p:nvSpPr>
        <p:spPr>
          <a:xfrm>
            <a:off x="7525385" y="3785870"/>
            <a:ext cx="268605" cy="22332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grpSp>
        <p:nvGrpSpPr>
          <p:cNvPr id="5" name="组合 4"/>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6" name="矩形 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7" name="直角三角形 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20"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3</a:t>
              </a:r>
              <a:r>
                <a:rPr sz="2400" dirty="0" smtClean="0">
                  <a:solidFill>
                    <a:schemeClr val="bg1"/>
                  </a:solidFill>
                  <a:latin typeface="微软雅黑" panose="020B0503020204020204" pitchFamily="34" charset="-122"/>
                  <a:ea typeface="微软雅黑" panose="020B0503020204020204" pitchFamily="34" charset="-122"/>
                  <a:sym typeface="+mn-ea"/>
                </a:rPr>
                <a:t> </a:t>
              </a:r>
              <a:r>
                <a:rPr sz="2400" dirty="0" smtClean="0">
                  <a:solidFill>
                    <a:schemeClr val="bg1"/>
                  </a:solidFill>
                  <a:latin typeface="微软雅黑" panose="020B0503020204020204" pitchFamily="34" charset="-122"/>
                  <a:ea typeface="微软雅黑" panose="020B0503020204020204" pitchFamily="34" charset="-122"/>
                  <a:sym typeface="+mn-ea"/>
                </a:rPr>
                <a:t>肺音的医学特性</a:t>
              </a:r>
              <a:endParaRPr lang="zh-CN" altLang="en-US" sz="2400" dirty="0" smtClean="0">
                <a:solidFill>
                  <a:schemeClr val="bg1"/>
                </a:solidFill>
                <a:latin typeface="黑体" panose="02010609060101010101" charset="-122"/>
                <a:ea typeface="黑体" panose="02010609060101010101" charset="-122"/>
              </a:endParaRPr>
            </a:p>
          </p:txBody>
        </p:sp>
      </p:grpSp>
    </p:spTree>
    <p:extLst>
      <p:ext uri="{BB962C8B-B14F-4D97-AF65-F5344CB8AC3E}">
        <p14:creationId xmlns:p14="http://schemas.microsoft.com/office/powerpoint/2010/main" val="1517452762"/>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A99A888-F0A6-497F-A203-744BF10280CF}" type="slidenum">
              <a:rPr lang="zh-CN" altLang="en-US" sz="900" smtClean="0">
                <a:latin typeface="黑体" panose="02010609060101010101" charset="-122"/>
                <a:ea typeface="黑体" panose="02010609060101010101" charset="-122"/>
              </a:rPr>
              <a:pPr/>
              <a:t>15</a:t>
            </a:fld>
            <a:endParaRPr lang="zh-CN" altLang="en-US" sz="900" smtClean="0">
              <a:latin typeface="黑体" panose="02010609060101010101" charset="-122"/>
              <a:ea typeface="黑体" panose="02010609060101010101" charset="-122"/>
            </a:endParaRPr>
          </a:p>
        </p:txBody>
      </p:sp>
      <p:grpSp>
        <p:nvGrpSpPr>
          <p:cNvPr id="43" name="组合 42"/>
          <p:cNvGrpSpPr/>
          <p:nvPr/>
        </p:nvGrpSpPr>
        <p:grpSpPr>
          <a:xfrm>
            <a:off x="1920240" y="1386840"/>
            <a:ext cx="6087110" cy="617855"/>
            <a:chOff x="1098018" y="1340446"/>
            <a:chExt cx="6947964" cy="737210"/>
          </a:xfrm>
        </p:grpSpPr>
        <p:sp>
          <p:nvSpPr>
            <p:cNvPr id="44" name="任意多边形 43"/>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kern="1200" dirty="0" smtClean="0">
                  <a:solidFill>
                    <a:schemeClr val="tx1"/>
                  </a:solidFill>
                  <a:latin typeface="黑体" panose="02010609060101010101" charset="-122"/>
                  <a:ea typeface="黑体" panose="02010609060101010101" charset="-122"/>
                </a:rPr>
                <a:t>原始数据集</a:t>
              </a:r>
              <a:endParaRPr lang="zh-CN" altLang="en-US" kern="1200" dirty="0" smtClean="0">
                <a:solidFill>
                  <a:schemeClr val="tx1"/>
                </a:solidFill>
                <a:latin typeface="黑体" panose="02010609060101010101" charset="-122"/>
                <a:ea typeface="黑体" panose="02010609060101010101" charset="-122"/>
              </a:endParaRPr>
            </a:p>
          </p:txBody>
        </p:sp>
        <p:sp>
          <p:nvSpPr>
            <p:cNvPr id="45" name="任意多边形 44"/>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1</a:t>
              </a:r>
              <a:endParaRPr lang="en-US" altLang="zh-CN" sz="3200" kern="1200" dirty="0" smtClean="0">
                <a:latin typeface="黑体" panose="02010609060101010101" charset="-122"/>
                <a:ea typeface="黑体" panose="02010609060101010101" charset="-122"/>
              </a:endParaRPr>
            </a:p>
          </p:txBody>
        </p:sp>
      </p:grpSp>
      <p:grpSp>
        <p:nvGrpSpPr>
          <p:cNvPr id="46" name="组合 45"/>
          <p:cNvGrpSpPr/>
          <p:nvPr/>
        </p:nvGrpSpPr>
        <p:grpSpPr>
          <a:xfrm>
            <a:off x="1920240" y="2131060"/>
            <a:ext cx="6087110" cy="617855"/>
            <a:chOff x="1098018" y="2124042"/>
            <a:chExt cx="6947964" cy="737210"/>
          </a:xfrm>
          <a:solidFill>
            <a:srgbClr val="802358">
              <a:alpha val="10000"/>
            </a:srgbClr>
          </a:solidFill>
        </p:grpSpPr>
        <p:sp>
          <p:nvSpPr>
            <p:cNvPr id="47" name="任意多边形 46"/>
            <p:cNvSpPr/>
            <p:nvPr/>
          </p:nvSpPr>
          <p:spPr>
            <a:xfrm>
              <a:off x="2699790" y="2188239"/>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grp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smtClean="0">
                  <a:solidFill>
                    <a:schemeClr val="tx1"/>
                  </a:solidFill>
                  <a:latin typeface="黑体" panose="02010609060101010101" charset="-122"/>
                  <a:ea typeface="黑体" panose="02010609060101010101" charset="-122"/>
                </a:rPr>
                <a:t>实验数据集</a:t>
              </a:r>
              <a:endParaRPr lang="zh-CN" dirty="0" smtClean="0">
                <a:solidFill>
                  <a:schemeClr val="tx1"/>
                </a:solidFill>
                <a:latin typeface="黑体" panose="02010609060101010101" charset="-122"/>
                <a:ea typeface="黑体" panose="02010609060101010101" charset="-122"/>
              </a:endParaRPr>
            </a:p>
          </p:txBody>
        </p:sp>
        <p:sp>
          <p:nvSpPr>
            <p:cNvPr id="48" name="任意多边形 47"/>
            <p:cNvSpPr/>
            <p:nvPr/>
          </p:nvSpPr>
          <p:spPr>
            <a:xfrm>
              <a:off x="1098018" y="2124042"/>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2</a:t>
              </a:r>
              <a:endParaRPr lang="en-US" altLang="zh-CN" sz="3200" kern="1200" dirty="0" smtClean="0">
                <a:latin typeface="黑体" panose="02010609060101010101" charset="-122"/>
                <a:ea typeface="黑体" panose="02010609060101010101" charset="-122"/>
              </a:endParaRPr>
            </a:p>
          </p:txBody>
        </p:sp>
      </p:grpSp>
      <p:grpSp>
        <p:nvGrpSpPr>
          <p:cNvPr id="49" name="组合 48"/>
          <p:cNvGrpSpPr/>
          <p:nvPr/>
        </p:nvGrpSpPr>
        <p:grpSpPr>
          <a:xfrm>
            <a:off x="1920240" y="2860040"/>
            <a:ext cx="6087110" cy="617855"/>
            <a:chOff x="1098018" y="2888588"/>
            <a:chExt cx="6947964" cy="737210"/>
          </a:xfrm>
        </p:grpSpPr>
        <p:sp>
          <p:nvSpPr>
            <p:cNvPr id="50" name="任意多边形 49"/>
            <p:cNvSpPr/>
            <p:nvPr/>
          </p:nvSpPr>
          <p:spPr>
            <a:xfrm>
              <a:off x="2699790" y="296231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0" lvl="1" indent="-171450" algn="l" defTabSz="711200">
                <a:lnSpc>
                  <a:spcPct val="90000"/>
                </a:lnSpc>
                <a:spcAft>
                  <a:spcPct val="15000"/>
                </a:spcAft>
                <a:buChar char="•"/>
              </a:pPr>
              <a:r>
                <a:rPr dirty="0" err="1" smtClean="0">
                  <a:solidFill>
                    <a:schemeClr val="tx1"/>
                  </a:solidFill>
                  <a:latin typeface="黑体" panose="02010609060101010101" charset="-122"/>
                  <a:ea typeface="黑体" panose="02010609060101010101" charset="-122"/>
                </a:rPr>
                <a:t>肺音的</a:t>
              </a:r>
              <a:r>
                <a:rPr lang="zh-CN" altLang="en-US" dirty="0" smtClean="0">
                  <a:solidFill>
                    <a:schemeClr val="tx1"/>
                  </a:solidFill>
                  <a:latin typeface="黑体" panose="02010609060101010101" charset="-122"/>
                  <a:ea typeface="黑体" panose="02010609060101010101" charset="-122"/>
                  <a:sym typeface="+mn-ea"/>
                </a:rPr>
                <a:t>医学特性</a:t>
              </a:r>
              <a:endParaRPr dirty="0" smtClean="0">
                <a:solidFill>
                  <a:schemeClr val="tx1"/>
                </a:solidFill>
                <a:latin typeface="黑体" panose="02010609060101010101" charset="-122"/>
                <a:ea typeface="黑体" panose="02010609060101010101" charset="-122"/>
              </a:endParaRPr>
            </a:p>
          </p:txBody>
        </p:sp>
        <p:sp>
          <p:nvSpPr>
            <p:cNvPr id="51" name="任意多边形 50"/>
            <p:cNvSpPr/>
            <p:nvPr/>
          </p:nvSpPr>
          <p:spPr>
            <a:xfrm>
              <a:off x="1098018" y="2888588"/>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3</a:t>
              </a:r>
              <a:endParaRPr lang="en-US" altLang="zh-CN" sz="3200" kern="1200" dirty="0" smtClean="0">
                <a:latin typeface="黑体" panose="02010609060101010101" charset="-122"/>
                <a:ea typeface="黑体" panose="02010609060101010101" charset="-122"/>
              </a:endParaRPr>
            </a:p>
          </p:txBody>
        </p:sp>
      </p:grpSp>
      <p:grpSp>
        <p:nvGrpSpPr>
          <p:cNvPr id="52" name="组合 51"/>
          <p:cNvGrpSpPr/>
          <p:nvPr/>
        </p:nvGrpSpPr>
        <p:grpSpPr>
          <a:xfrm>
            <a:off x="1920240" y="3596640"/>
            <a:ext cx="6087110" cy="617855"/>
            <a:chOff x="1098018" y="3662660"/>
            <a:chExt cx="6947964" cy="737210"/>
          </a:xfrm>
        </p:grpSpPr>
        <p:sp>
          <p:nvSpPr>
            <p:cNvPr id="53" name="任意多边形 52"/>
            <p:cNvSpPr/>
            <p:nvPr/>
          </p:nvSpPr>
          <p:spPr>
            <a:xfrm>
              <a:off x="2699790" y="373638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b="1" dirty="0" smtClean="0">
                  <a:solidFill>
                    <a:srgbClr val="FF0000"/>
                  </a:solidFill>
                  <a:latin typeface="黑体" panose="02010609060101010101" charset="-122"/>
                  <a:ea typeface="黑体" panose="02010609060101010101" charset="-122"/>
                  <a:sym typeface="+mn-ea"/>
                </a:rPr>
                <a:t>肺音的特征提取</a:t>
              </a:r>
              <a:endParaRPr lang="zh-CN" altLang="en-US" b="1" dirty="0" smtClean="0">
                <a:solidFill>
                  <a:srgbClr val="FF0000"/>
                </a:solidFill>
                <a:latin typeface="黑体" panose="02010609060101010101" charset="-122"/>
                <a:ea typeface="黑体" panose="02010609060101010101" charset="-122"/>
                <a:sym typeface="+mn-ea"/>
              </a:endParaRPr>
            </a:p>
          </p:txBody>
        </p:sp>
        <p:sp>
          <p:nvSpPr>
            <p:cNvPr id="54" name="任意多边形 53"/>
            <p:cNvSpPr/>
            <p:nvPr/>
          </p:nvSpPr>
          <p:spPr>
            <a:xfrm>
              <a:off x="1098018" y="3662660"/>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4</a:t>
              </a:r>
              <a:endParaRPr lang="en-US" altLang="zh-CN" sz="3200" kern="1200" dirty="0" smtClean="0">
                <a:latin typeface="黑体" panose="02010609060101010101" charset="-122"/>
                <a:ea typeface="黑体" panose="02010609060101010101" charset="-122"/>
              </a:endParaRPr>
            </a:p>
          </p:txBody>
        </p:sp>
      </p:grpSp>
      <p:grpSp>
        <p:nvGrpSpPr>
          <p:cNvPr id="55" name="组合 54"/>
          <p:cNvGrpSpPr/>
          <p:nvPr/>
        </p:nvGrpSpPr>
        <p:grpSpPr>
          <a:xfrm>
            <a:off x="1920240" y="4332605"/>
            <a:ext cx="6087110" cy="617855"/>
            <a:chOff x="1098018" y="4436731"/>
            <a:chExt cx="6947964" cy="737210"/>
          </a:xfrm>
        </p:grpSpPr>
        <p:sp>
          <p:nvSpPr>
            <p:cNvPr id="56" name="任意多边形 55"/>
            <p:cNvSpPr/>
            <p:nvPr/>
          </p:nvSpPr>
          <p:spPr>
            <a:xfrm>
              <a:off x="2699790" y="4510453"/>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a:latin typeface="黑体" panose="02010609060101010101" charset="-122"/>
                  <a:ea typeface="黑体" panose="02010609060101010101" charset="-122"/>
                  <a:sym typeface="+mn-ea"/>
                </a:rPr>
                <a:t>肺音分类的相关方法</a:t>
              </a:r>
            </a:p>
          </p:txBody>
        </p:sp>
        <p:sp>
          <p:nvSpPr>
            <p:cNvPr id="57" name="任意多边形 56"/>
            <p:cNvSpPr/>
            <p:nvPr/>
          </p:nvSpPr>
          <p:spPr>
            <a:xfrm>
              <a:off x="1098018" y="4436731"/>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5</a:t>
              </a:r>
              <a:endParaRPr lang="en-US" altLang="zh-CN" sz="3200" kern="1200" dirty="0" smtClean="0">
                <a:latin typeface="黑体" panose="02010609060101010101" charset="-122"/>
                <a:ea typeface="黑体" panose="02010609060101010101" charset="-122"/>
              </a:endParaRPr>
            </a:p>
          </p:txBody>
        </p:sp>
      </p:grpSp>
      <p:pic>
        <p:nvPicPr>
          <p:cNvPr id="16396" name="图片 1"/>
          <p:cNvPicPr>
            <a:picLocks noChangeAspect="1"/>
          </p:cNvPicPr>
          <p:nvPr/>
        </p:nvPicPr>
        <p:blipFill>
          <a:blip r:embed="rId3" cstate="print"/>
          <a:stretch>
            <a:fillRect/>
          </a:stretch>
        </p:blipFill>
        <p:spPr>
          <a:xfrm>
            <a:off x="920750" y="3658235"/>
            <a:ext cx="639445" cy="459105"/>
          </a:xfrm>
          <a:prstGeom prst="rect">
            <a:avLst/>
          </a:prstGeom>
          <a:noFill/>
          <a:ln w="9525">
            <a:noFill/>
          </a:ln>
        </p:spPr>
      </p:pic>
      <p:grpSp>
        <p:nvGrpSpPr>
          <p:cNvPr id="3" name="组合 2"/>
          <p:cNvGrpSpPr/>
          <p:nvPr/>
        </p:nvGrpSpPr>
        <p:grpSpPr>
          <a:xfrm>
            <a:off x="3810" y="356869"/>
            <a:ext cx="2741295" cy="460375"/>
            <a:chOff x="0" y="522689"/>
            <a:chExt cx="3422416" cy="508886"/>
          </a:xfrm>
          <a:solidFill>
            <a:srgbClr val="802358"/>
          </a:solidFill>
        </p:grpSpPr>
        <p:grpSp>
          <p:nvGrpSpPr>
            <p:cNvPr id="9" name="组合 8"/>
            <p:cNvGrpSpPr/>
            <p:nvPr/>
          </p:nvGrpSpPr>
          <p:grpSpPr>
            <a:xfrm>
              <a:off x="0" y="533201"/>
              <a:ext cx="3422416" cy="492760"/>
              <a:chOff x="0" y="278653"/>
              <a:chExt cx="3422416" cy="492760"/>
            </a:xfrm>
            <a:grpFill/>
          </p:grpSpPr>
          <p:sp>
            <p:nvSpPr>
              <p:cNvPr id="13" name="矩形 12"/>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4" name="直角三角形 13"/>
              <p:cNvSpPr/>
              <p:nvPr/>
            </p:nvSpPr>
            <p:spPr>
              <a:xfrm>
                <a:off x="3083571"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5"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zh-CN" altLang="en-US" sz="2400" dirty="0" smtClean="0">
                  <a:solidFill>
                    <a:schemeClr val="bg1"/>
                  </a:solidFill>
                  <a:latin typeface="黑体" panose="02010609060101010101" charset="-122"/>
                  <a:ea typeface="黑体" panose="02010609060101010101" charset="-122"/>
                </a:rPr>
                <a:t>目   录</a:t>
              </a:r>
            </a:p>
          </p:txBody>
        </p:sp>
      </p:gr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16</a:t>
            </a:fld>
            <a:endParaRPr lang="zh-CN" altLang="en-US" sz="900"/>
          </a:p>
        </p:txBody>
      </p:sp>
      <p:sp>
        <p:nvSpPr>
          <p:cNvPr id="10" name="文本框 9"/>
          <p:cNvSpPr txBox="1"/>
          <p:nvPr/>
        </p:nvSpPr>
        <p:spPr>
          <a:xfrm>
            <a:off x="372110" y="817245"/>
            <a:ext cx="8143240" cy="4016484"/>
          </a:xfrm>
          <a:prstGeom prst="rect">
            <a:avLst/>
          </a:prstGeom>
          <a:noFill/>
          <a:ln w="9525">
            <a:noFill/>
          </a:ln>
        </p:spPr>
        <p:txBody>
          <a:bodyPr wrap="square">
            <a:spAutoFit/>
          </a:bodyPr>
          <a:lstStyle/>
          <a:p>
            <a:pPr>
              <a:lnSpc>
                <a:spcPct val="150000"/>
              </a:lnSpc>
            </a:pPr>
            <a:r>
              <a:rPr lang="zh-CN" altLang="en-US" sz="2000" dirty="0" smtClean="0">
                <a:latin typeface="黑体" panose="02010609060101010101" charset="-122"/>
                <a:ea typeface="黑体" panose="02010609060101010101" charset="-122"/>
                <a:sym typeface="+mn-ea"/>
              </a:rPr>
              <a:t>肺音的预处理：</a:t>
            </a:r>
            <a:endParaRPr lang="en-US" altLang="zh-CN" sz="2000" dirty="0" smtClean="0">
              <a:latin typeface="黑体" panose="02010609060101010101" charset="-122"/>
              <a:ea typeface="黑体" panose="02010609060101010101" charset="-122"/>
              <a:sym typeface="+mn-ea"/>
            </a:endParaRPr>
          </a:p>
          <a:p>
            <a:pPr>
              <a:lnSpc>
                <a:spcPct val="150000"/>
              </a:lnSpc>
            </a:pPr>
            <a:endParaRPr lang="en-US" altLang="zh-CN" sz="2000" dirty="0" smtClean="0">
              <a:latin typeface="黑体" panose="02010609060101010101" charset="-122"/>
              <a:ea typeface="黑体" panose="02010609060101010101" charset="-122"/>
              <a:sym typeface="+mn-ea"/>
            </a:endParaRPr>
          </a:p>
          <a:p>
            <a:pPr marL="285750" indent="-285750">
              <a:lnSpc>
                <a:spcPct val="150000"/>
              </a:lnSpc>
              <a:buFont typeface="Wingdings" panose="05000000000000000000" charset="0"/>
              <a:buChar char=""/>
            </a:pPr>
            <a:r>
              <a:rPr lang="en-US" altLang="zh-CN" sz="2000" dirty="0" err="1" smtClean="0">
                <a:latin typeface="黑体" panose="02010609060101010101" charset="-122"/>
                <a:ea typeface="黑体" panose="02010609060101010101" charset="-122"/>
                <a:sym typeface="+mn-ea"/>
              </a:rPr>
              <a:t>降采样</a:t>
            </a:r>
            <a:endParaRPr lang="en-US" altLang="zh-CN" sz="2000" dirty="0">
              <a:latin typeface="黑体" panose="02010609060101010101" charset="-122"/>
              <a:ea typeface="黑体" panose="02010609060101010101" charset="-122"/>
              <a:sym typeface="+mn-ea"/>
            </a:endParaRPr>
          </a:p>
          <a:p>
            <a:pPr lvl="1" indent="0">
              <a:lnSpc>
                <a:spcPct val="150000"/>
              </a:lnSpc>
              <a:buFont typeface="Arial" panose="020B0604020202020204" pitchFamily="34" charset="0"/>
              <a:buNone/>
            </a:pPr>
            <a:r>
              <a:rPr lang="zh-CN" altLang="en-US" dirty="0">
                <a:latin typeface="黑体" panose="02010609060101010101" charset="-122"/>
                <a:ea typeface="黑体" panose="02010609060101010101" charset="-122"/>
                <a:sym typeface="+mn-ea"/>
              </a:rPr>
              <a:t>肺音频率一般在50-2000Hz，根据采样定理，本文设置采样频率4000Hz，则信号允许最高频率是2000Hz</a:t>
            </a:r>
            <a:r>
              <a:rPr lang="zh-CN" altLang="en-US" dirty="0" smtClean="0">
                <a:latin typeface="黑体" panose="02010609060101010101" charset="-122"/>
                <a:ea typeface="黑体" panose="02010609060101010101" charset="-122"/>
                <a:sym typeface="+mn-ea"/>
              </a:rPr>
              <a:t>。</a:t>
            </a:r>
            <a:endParaRPr lang="en-US" altLang="zh-CN" dirty="0" smtClean="0">
              <a:latin typeface="黑体" panose="02010609060101010101" charset="-122"/>
              <a:ea typeface="黑体" panose="02010609060101010101" charset="-122"/>
              <a:sym typeface="+mn-ea"/>
            </a:endParaRPr>
          </a:p>
          <a:p>
            <a:pPr lvl="1" indent="0">
              <a:lnSpc>
                <a:spcPct val="150000"/>
              </a:lnSpc>
              <a:buFont typeface="Arial" panose="020B0604020202020204" pitchFamily="34" charset="0"/>
              <a:buNone/>
            </a:pPr>
            <a:endParaRPr lang="zh-CN" altLang="en-US" dirty="0">
              <a:latin typeface="黑体" panose="02010609060101010101" charset="-122"/>
              <a:ea typeface="黑体" panose="02010609060101010101" charset="-122"/>
              <a:sym typeface="+mn-ea"/>
            </a:endParaRPr>
          </a:p>
          <a:p>
            <a:pPr marL="285750" indent="-285750" fontAlgn="auto">
              <a:lnSpc>
                <a:spcPct val="150000"/>
              </a:lnSpc>
              <a:buFont typeface="Wingdings" panose="05000000000000000000" charset="0"/>
              <a:buChar char=""/>
            </a:pPr>
            <a:r>
              <a:rPr lang="en-US" altLang="zh-CN" sz="2000" dirty="0">
                <a:latin typeface="黑体" panose="02010609060101010101" charset="-122"/>
                <a:ea typeface="黑体" panose="02010609060101010101" charset="-122"/>
                <a:sym typeface="+mn-ea"/>
              </a:rPr>
              <a:t>高通滤波</a:t>
            </a:r>
          </a:p>
          <a:p>
            <a:pPr marL="457200" indent="0" fontAlgn="auto">
              <a:lnSpc>
                <a:spcPct val="150000"/>
              </a:lnSpc>
              <a:buNone/>
            </a:pPr>
            <a:r>
              <a:rPr lang="en-US" altLang="zh-CN" dirty="0" err="1">
                <a:latin typeface="黑体" panose="02010609060101010101" charset="-122"/>
                <a:ea typeface="黑体" panose="02010609060101010101" charset="-122"/>
                <a:sym typeface="+mn-ea"/>
              </a:rPr>
              <a:t>肺音信号在采集中常夹杂着其他生理信号，如心音、脉搏、肌肉摩擦音等，</a:t>
            </a:r>
            <a:r>
              <a:rPr lang="en-US" altLang="zh-CN" dirty="0" err="1" smtClean="0">
                <a:latin typeface="黑体" panose="02010609060101010101" charset="-122"/>
                <a:ea typeface="黑体" panose="02010609060101010101" charset="-122"/>
                <a:sym typeface="+mn-ea"/>
              </a:rPr>
              <a:t>采用高通滤波器过滤掉一些低频干扰</a:t>
            </a:r>
            <a:r>
              <a:rPr lang="zh-CN" altLang="en-US" dirty="0">
                <a:latin typeface="黑体" panose="02010609060101010101" charset="-122"/>
                <a:ea typeface="黑体" panose="02010609060101010101" charset="-122"/>
                <a:sym typeface="+mn-ea"/>
              </a:rPr>
              <a:t>。</a:t>
            </a:r>
          </a:p>
        </p:txBody>
      </p:sp>
      <p:grpSp>
        <p:nvGrpSpPr>
          <p:cNvPr id="5" name="组合 4"/>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6" name="矩形 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7" name="直角三角形 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20"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4 </a:t>
              </a:r>
              <a:r>
                <a:rPr sz="2400" dirty="0" err="1" smtClean="0">
                  <a:solidFill>
                    <a:schemeClr val="bg1"/>
                  </a:solidFill>
                  <a:latin typeface="微软雅黑" panose="020B0503020204020204" pitchFamily="34" charset="-122"/>
                  <a:ea typeface="微软雅黑" panose="020B0503020204020204" pitchFamily="34" charset="-122"/>
                  <a:sym typeface="+mn-ea"/>
                </a:rPr>
                <a:t>肺音</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的特征提取</a:t>
              </a:r>
              <a:endParaRPr lang="zh-CN" altLang="en-US" sz="2400" dirty="0" smtClean="0">
                <a:solidFill>
                  <a:schemeClr val="bg1"/>
                </a:solidFill>
                <a:latin typeface="黑体" panose="02010609060101010101" charset="-122"/>
                <a:ea typeface="黑体" panose="02010609060101010101"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17</a:t>
            </a:fld>
            <a:endParaRPr lang="zh-CN" altLang="en-US" sz="900"/>
          </a:p>
        </p:txBody>
      </p:sp>
      <p:pic>
        <p:nvPicPr>
          <p:cNvPr id="4" name="图片 3" descr="图4.1 正常肺音（左）和异常肺音（右）原信号与预处理后信号时域图"/>
          <p:cNvPicPr>
            <a:picLocks noChangeAspect="1"/>
          </p:cNvPicPr>
          <p:nvPr/>
        </p:nvPicPr>
        <p:blipFill>
          <a:blip r:embed="rId3" cstate="print"/>
          <a:stretch>
            <a:fillRect/>
          </a:stretch>
        </p:blipFill>
        <p:spPr>
          <a:xfrm>
            <a:off x="1017270" y="1040130"/>
            <a:ext cx="6869429" cy="4301331"/>
          </a:xfrm>
          <a:prstGeom prst="rect">
            <a:avLst/>
          </a:prstGeom>
        </p:spPr>
      </p:pic>
      <p:grpSp>
        <p:nvGrpSpPr>
          <p:cNvPr id="5" name="组合 4"/>
          <p:cNvGrpSpPr/>
          <p:nvPr/>
        </p:nvGrpSpPr>
        <p:grpSpPr>
          <a:xfrm>
            <a:off x="3810" y="356870"/>
            <a:ext cx="4845685" cy="460375"/>
            <a:chOff x="0" y="522689"/>
            <a:chExt cx="3415702" cy="508886"/>
          </a:xfrm>
          <a:solidFill>
            <a:srgbClr val="802358"/>
          </a:solidFill>
        </p:grpSpPr>
        <p:grpSp>
          <p:nvGrpSpPr>
            <p:cNvPr id="15" name="组合 14"/>
            <p:cNvGrpSpPr/>
            <p:nvPr/>
          </p:nvGrpSpPr>
          <p:grpSpPr>
            <a:xfrm>
              <a:off x="0" y="533201"/>
              <a:ext cx="3415702" cy="492760"/>
              <a:chOff x="0" y="278653"/>
              <a:chExt cx="3415702" cy="492760"/>
            </a:xfrm>
            <a:grpFill/>
          </p:grpSpPr>
          <p:sp>
            <p:nvSpPr>
              <p:cNvPr id="6" name="矩形 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7" name="直角三角形 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20"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sym typeface="+mn-ea"/>
                </a:rPr>
                <a:t>4 </a:t>
              </a:r>
              <a:r>
                <a:rPr lang="zh-CN" altLang="en-US" sz="2400" dirty="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a:solidFill>
                  <a:schemeClr val="bg1"/>
                </a:solidFill>
                <a:latin typeface="黑体" panose="02010609060101010101" charset="-122"/>
                <a:ea typeface="黑体" panose="02010609060101010101" charset="-122"/>
              </a:endParaRPr>
            </a:p>
          </p:txBody>
        </p:sp>
      </p:grpSp>
      <p:sp>
        <p:nvSpPr>
          <p:cNvPr id="2" name="文本框 1"/>
          <p:cNvSpPr txBox="1"/>
          <p:nvPr/>
        </p:nvSpPr>
        <p:spPr>
          <a:xfrm>
            <a:off x="405318" y="5664239"/>
            <a:ext cx="8315772" cy="646331"/>
          </a:xfrm>
          <a:prstGeom prst="rect">
            <a:avLst/>
          </a:prstGeom>
          <a:noFill/>
        </p:spPr>
        <p:txBody>
          <a:bodyPr wrap="square" rtlCol="0">
            <a:spAutoFit/>
          </a:bodyPr>
          <a:lstStyle/>
          <a:p>
            <a:r>
              <a:rPr lang="zh-CN" altLang="en-US" dirty="0" smtClean="0"/>
              <a:t>上图是</a:t>
            </a:r>
            <a:r>
              <a:rPr lang="zh-CN" altLang="zh-CN" dirty="0" smtClean="0"/>
              <a:t>原始</a:t>
            </a:r>
            <a:r>
              <a:rPr lang="zh-CN" altLang="zh-CN" dirty="0"/>
              <a:t>肺音和异常肺音信号的波形图和经降采样和滤波处理噪声后的效果图</a:t>
            </a:r>
            <a:r>
              <a:rPr lang="zh-CN" altLang="zh-CN" dirty="0" smtClean="0"/>
              <a:t>。</a:t>
            </a:r>
            <a:r>
              <a:rPr lang="zh-CN" altLang="en-US" dirty="0" smtClean="0"/>
              <a:t>可以看出，</a:t>
            </a:r>
            <a:r>
              <a:rPr lang="zh-CN" altLang="zh-CN" dirty="0" smtClean="0"/>
              <a:t>经</a:t>
            </a:r>
            <a:r>
              <a:rPr lang="zh-CN" altLang="zh-CN" dirty="0"/>
              <a:t>预处理后的肺音信号在时域上显示出更清晰的特征</a:t>
            </a:r>
            <a:r>
              <a:rPr lang="zh-CN" altLang="zh-CN" dirty="0" smtClean="0"/>
              <a:t>表象</a:t>
            </a:r>
            <a:r>
              <a:rPr lang="zh-CN" altLang="en-US" dirty="0" smtClean="0"/>
              <a:t>。</a:t>
            </a:r>
            <a:endParaRPr lang="zh-CN" altLang="en-US" dirty="0"/>
          </a:p>
        </p:txBody>
      </p:sp>
    </p:spTree>
    <p:extLst>
      <p:ext uri="{BB962C8B-B14F-4D97-AF65-F5344CB8AC3E}">
        <p14:creationId xmlns:p14="http://schemas.microsoft.com/office/powerpoint/2010/main" val="254642681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18</a:t>
            </a:fld>
            <a:endParaRPr lang="zh-CN" altLang="en-US" sz="900"/>
          </a:p>
        </p:txBody>
      </p:sp>
      <p:sp>
        <p:nvSpPr>
          <p:cNvPr id="10" name="文本框 9"/>
          <p:cNvSpPr txBox="1"/>
          <p:nvPr/>
        </p:nvSpPr>
        <p:spPr>
          <a:xfrm>
            <a:off x="405130" y="778510"/>
            <a:ext cx="8533130" cy="6601807"/>
          </a:xfrm>
          <a:prstGeom prst="rect">
            <a:avLst/>
          </a:prstGeom>
          <a:noFill/>
          <a:ln w="9525">
            <a:noFill/>
          </a:ln>
        </p:spPr>
        <p:txBody>
          <a:bodyPr wrap="square">
            <a:spAutoFit/>
          </a:bodyPr>
          <a:lstStyle/>
          <a:p>
            <a:pPr>
              <a:lnSpc>
                <a:spcPct val="150000"/>
              </a:lnSpc>
            </a:pPr>
            <a:r>
              <a:rPr lang="zh-CN" altLang="en-US" sz="2000" dirty="0" smtClean="0">
                <a:latin typeface="黑体" panose="02010609060101010101" charset="-122"/>
                <a:ea typeface="黑体" panose="02010609060101010101" charset="-122"/>
                <a:sym typeface="+mn-ea"/>
              </a:rPr>
              <a:t>基于</a:t>
            </a:r>
            <a:r>
              <a:rPr lang="en-US" altLang="zh-CN" sz="2000" dirty="0" smtClean="0">
                <a:latin typeface="黑体" panose="02010609060101010101" charset="-122"/>
                <a:ea typeface="黑体" panose="02010609060101010101" charset="-122"/>
                <a:sym typeface="+mn-ea"/>
              </a:rPr>
              <a:t>Welch</a:t>
            </a:r>
            <a:r>
              <a:rPr lang="zh-CN" altLang="en-US" sz="2000" dirty="0" smtClean="0">
                <a:latin typeface="黑体" panose="02010609060101010101" charset="-122"/>
                <a:ea typeface="黑体" panose="02010609060101010101" charset="-122"/>
                <a:sym typeface="+mn-ea"/>
              </a:rPr>
              <a:t>的肺音特征：</a:t>
            </a:r>
            <a:endParaRPr lang="en-US" altLang="zh-CN" sz="2000" dirty="0" smtClean="0">
              <a:latin typeface="黑体" panose="02010609060101010101" charset="-122"/>
              <a:ea typeface="黑体" panose="02010609060101010101" charset="-122"/>
              <a:sym typeface="+mn-ea"/>
            </a:endParaRPr>
          </a:p>
          <a:p>
            <a:pPr marL="285750" indent="-285750">
              <a:lnSpc>
                <a:spcPct val="150000"/>
              </a:lnSpc>
              <a:buFont typeface="Wingdings" panose="05000000000000000000" charset="0"/>
              <a:buChar char=""/>
            </a:pPr>
            <a:r>
              <a:rPr lang="zh-CN" sz="2000" dirty="0" smtClean="0">
                <a:latin typeface="黑体" panose="02010609060101010101" charset="-122"/>
                <a:ea typeface="黑体" panose="02010609060101010101" charset="-122"/>
                <a:sym typeface="+mn-ea"/>
              </a:rPr>
              <a:t>韦尔奇</a:t>
            </a:r>
            <a:r>
              <a:rPr lang="zh-CN" sz="2000" dirty="0">
                <a:latin typeface="黑体" panose="02010609060101010101" charset="-122"/>
                <a:ea typeface="黑体" panose="02010609060101010101" charset="-122"/>
                <a:sym typeface="+mn-ea"/>
              </a:rPr>
              <a:t>（Welch）法功率谱估计</a:t>
            </a:r>
            <a:r>
              <a:rPr lang="zh-CN" sz="1600" dirty="0">
                <a:latin typeface="黑体" panose="02010609060101010101" charset="-122"/>
                <a:ea typeface="黑体" panose="02010609060101010101" charset="-122"/>
                <a:sym typeface="+mn-ea"/>
              </a:rPr>
              <a:t>：</a:t>
            </a:r>
            <a:endParaRPr lang="zh-CN" sz="1600" dirty="0">
              <a:latin typeface="黑体" panose="02010609060101010101" charset="-122"/>
              <a:ea typeface="黑体" panose="02010609060101010101" charset="-122"/>
            </a:endParaRPr>
          </a:p>
          <a:p>
            <a:pPr marL="457200" indent="0" fontAlgn="auto">
              <a:lnSpc>
                <a:spcPct val="150000"/>
              </a:lnSpc>
              <a:buNone/>
            </a:pPr>
            <a:r>
              <a:rPr lang="zh-CN" sz="1600" dirty="0">
                <a:latin typeface="黑体" panose="02010609060101010101" charset="-122"/>
                <a:ea typeface="黑体" panose="02010609060101010101" charset="-122"/>
                <a:sym typeface="+mn-ea"/>
              </a:rPr>
              <a:t>Welch是建立在离散傅里叶分析基础上，通过分段和加窗处理数据后再进行频域分析，该算法可以维持信号原有的分辨能力，同时减小谱估计方差值。</a:t>
            </a:r>
            <a:endParaRPr lang="zh-CN" sz="1600" dirty="0">
              <a:latin typeface="黑体" panose="02010609060101010101" charset="-122"/>
              <a:ea typeface="黑体" panose="02010609060101010101" charset="-122"/>
            </a:endParaRPr>
          </a:p>
          <a:p>
            <a:pPr marL="285750" indent="-285750">
              <a:lnSpc>
                <a:spcPct val="150000"/>
              </a:lnSpc>
              <a:buFont typeface="Wingdings" panose="05000000000000000000" charset="0"/>
              <a:buChar char=""/>
            </a:pPr>
            <a:r>
              <a:rPr lang="zh-CN" sz="2000" dirty="0">
                <a:latin typeface="黑体" panose="02010609060101010101" charset="-122"/>
                <a:ea typeface="黑体" panose="02010609060101010101" charset="-122"/>
                <a:sym typeface="+mn-ea"/>
              </a:rPr>
              <a:t>选取肺音特征</a:t>
            </a:r>
          </a:p>
          <a:p>
            <a:pPr marL="457200" indent="0" fontAlgn="auto">
              <a:lnSpc>
                <a:spcPct val="150000"/>
              </a:lnSpc>
              <a:buNone/>
            </a:pPr>
            <a:r>
              <a:rPr lang="en-US" altLang="zh-CN" sz="1600" dirty="0">
                <a:latin typeface="黑体" panose="02010609060101010101" charset="-122"/>
                <a:ea typeface="黑体" panose="02010609060101010101" charset="-122"/>
                <a:sym typeface="+mn-ea"/>
              </a:rPr>
              <a:t>1.</a:t>
            </a:r>
            <a:r>
              <a:rPr lang="zh-CN" altLang="en-US" sz="1600" dirty="0">
                <a:latin typeface="黑体" panose="02010609060101010101" charset="-122"/>
                <a:ea typeface="黑体" panose="02010609060101010101" charset="-122"/>
                <a:sym typeface="+mn-ea"/>
              </a:rPr>
              <a:t>最大值</a:t>
            </a:r>
          </a:p>
          <a:p>
            <a:pPr marL="914400" indent="0" fontAlgn="auto">
              <a:lnSpc>
                <a:spcPct val="150000"/>
              </a:lnSpc>
              <a:buNone/>
              <a:extLst>
                <a:ext uri="{35155182-B16C-46BC-9424-99874614C6A1}">
                  <wpsdc:marlchars xmlns="" xmlns:wpsdc="http://www.wps.cn/officeDocument/2017/drawingmlCustomData" val="400" checksum="1645423262"/>
                </a:ext>
              </a:extLst>
            </a:pPr>
            <a:r>
              <a:rPr lang="en-US" altLang="zh-CN" sz="1600" dirty="0">
                <a:latin typeface="宋体" panose="02010600030101010101" pitchFamily="2" charset="-122"/>
                <a:ea typeface="宋体" panose="02010600030101010101" pitchFamily="2" charset="-122"/>
              </a:rPr>
              <a:t>x1=[</a:t>
            </a:r>
            <a:r>
              <a:rPr lang="zh-CN" altLang="en-US" sz="1600" dirty="0">
                <a:latin typeface="宋体" panose="02010600030101010101" pitchFamily="2" charset="-122"/>
                <a:ea typeface="宋体" panose="02010600030101010101" pitchFamily="2" charset="-122"/>
              </a:rPr>
              <a:t>最大功率处谱密度</a:t>
            </a: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对应频率点</a:t>
            </a:r>
            <a:r>
              <a:rPr lang="en-US" altLang="zh-CN" sz="1600" dirty="0">
                <a:latin typeface="宋体" panose="02010600030101010101" pitchFamily="2" charset="-122"/>
                <a:ea typeface="宋体" panose="02010600030101010101" pitchFamily="2" charset="-122"/>
              </a:rPr>
              <a:t>]</a:t>
            </a:r>
          </a:p>
          <a:p>
            <a:pPr marL="457200" indent="0" fontAlgn="auto">
              <a:lnSpc>
                <a:spcPct val="150000"/>
              </a:lnSpc>
              <a:buNone/>
            </a:pPr>
            <a:r>
              <a:rPr lang="en-US" altLang="zh-CN" sz="1600" dirty="0">
                <a:latin typeface="黑体" panose="02010609060101010101" charset="-122"/>
                <a:ea typeface="黑体" panose="02010609060101010101" charset="-122"/>
                <a:sym typeface="+mn-ea"/>
              </a:rPr>
              <a:t>2.总功率百分比频率：</a:t>
            </a:r>
          </a:p>
          <a:p>
            <a:pPr marL="914400">
              <a:lnSpc>
                <a:spcPct val="150000"/>
              </a:lnSpc>
              <a:extLst>
                <a:ext uri="{35155182-B16C-46BC-9424-99874614C6A1}">
                  <wpsdc:marlchars xmlns="" xmlns:wpsdc="http://www.wps.cn/officeDocument/2017/drawingmlCustomData" val="400" checksum="1645423262"/>
                </a:ext>
              </a:extLst>
            </a:pPr>
            <a:r>
              <a:rPr lang="en-US" altLang="zh-CN" sz="1600" dirty="0">
                <a:latin typeface="宋体" panose="02010600030101010101" pitchFamily="2" charset="-122"/>
                <a:ea typeface="宋体" panose="02010600030101010101" pitchFamily="2" charset="-122"/>
                <a:sym typeface="+mn-ea"/>
              </a:rPr>
              <a:t>x2=[</a:t>
            </a:r>
            <a:r>
              <a:rPr lang="en-US" altLang="zh-CN" sz="1600" dirty="0" err="1">
                <a:latin typeface="宋体" panose="02010600030101010101" pitchFamily="2" charset="-122"/>
                <a:ea typeface="宋体" panose="02010600030101010101" pitchFamily="2" charset="-122"/>
                <a:sym typeface="+mn-ea"/>
              </a:rPr>
              <a:t>肺音总强度,</a:t>
            </a:r>
            <a:r>
              <a:rPr lang="en-US" altLang="zh-CN" sz="1600" dirty="0" err="1" smtClean="0">
                <a:latin typeface="宋体" panose="02010600030101010101" pitchFamily="2" charset="-122"/>
                <a:ea typeface="宋体" panose="02010600030101010101" pitchFamily="2" charset="-122"/>
                <a:sym typeface="+mn-ea"/>
              </a:rPr>
              <a:t>低频段能量比</a:t>
            </a:r>
            <a:r>
              <a:rPr lang="zh-CN" altLang="en-US" sz="1600" dirty="0" smtClean="0">
                <a:latin typeface="宋体" panose="02010600030101010101" pitchFamily="2" charset="-122"/>
                <a:ea typeface="宋体" panose="02010600030101010101" pitchFamily="2" charset="-122"/>
                <a:sym typeface="+mn-ea"/>
              </a:rPr>
              <a:t>（</a:t>
            </a:r>
            <a:r>
              <a:rPr lang="en-US" altLang="zh-CN" dirty="0"/>
              <a:t> 0-200Hz </a:t>
            </a:r>
            <a:r>
              <a:rPr lang="zh-CN" altLang="en-US" sz="1600" dirty="0" smtClean="0">
                <a:latin typeface="宋体" panose="02010600030101010101" pitchFamily="2" charset="-122"/>
                <a:ea typeface="宋体" panose="02010600030101010101" pitchFamily="2" charset="-122"/>
                <a:sym typeface="+mn-ea"/>
              </a:rPr>
              <a:t>）</a:t>
            </a:r>
            <a:r>
              <a:rPr lang="en-US" altLang="zh-CN" sz="1600" dirty="0" smtClean="0">
                <a:latin typeface="宋体" panose="02010600030101010101" pitchFamily="2" charset="-122"/>
                <a:ea typeface="宋体" panose="02010600030101010101" pitchFamily="2" charset="-122"/>
                <a:sym typeface="+mn-ea"/>
              </a:rPr>
              <a:t>,</a:t>
            </a:r>
            <a:r>
              <a:rPr lang="en-US" altLang="zh-CN" sz="1600" dirty="0" err="1" smtClean="0">
                <a:latin typeface="宋体" panose="02010600030101010101" pitchFamily="2" charset="-122"/>
                <a:ea typeface="宋体" panose="02010600030101010101" pitchFamily="2" charset="-122"/>
                <a:sym typeface="+mn-ea"/>
              </a:rPr>
              <a:t>中频段能量比</a:t>
            </a:r>
            <a:r>
              <a:rPr lang="zh-CN" altLang="en-US" sz="1400" dirty="0">
                <a:latin typeface="宋体" panose="02010600030101010101" pitchFamily="2" charset="-122"/>
                <a:sym typeface="+mn-ea"/>
              </a:rPr>
              <a:t> （</a:t>
            </a:r>
            <a:r>
              <a:rPr lang="en-US" altLang="zh-CN" sz="1600" dirty="0"/>
              <a:t> </a:t>
            </a:r>
            <a:r>
              <a:rPr lang="en-US" altLang="zh-CN" sz="1600" dirty="0" smtClean="0"/>
              <a:t>200-500Hz </a:t>
            </a:r>
            <a:r>
              <a:rPr lang="zh-CN" altLang="en-US" sz="1400" dirty="0">
                <a:latin typeface="宋体" panose="02010600030101010101" pitchFamily="2" charset="-122"/>
                <a:sym typeface="+mn-ea"/>
              </a:rPr>
              <a:t>）</a:t>
            </a:r>
            <a:r>
              <a:rPr lang="en-US" altLang="zh-CN" sz="1600" dirty="0" smtClean="0">
                <a:latin typeface="宋体" panose="02010600030101010101" pitchFamily="2" charset="-122"/>
                <a:ea typeface="宋体" panose="02010600030101010101" pitchFamily="2" charset="-122"/>
                <a:sym typeface="+mn-ea"/>
              </a:rPr>
              <a:t>,</a:t>
            </a:r>
            <a:r>
              <a:rPr lang="en-US" altLang="zh-CN" sz="1600" dirty="0" err="1" smtClean="0">
                <a:latin typeface="宋体" panose="02010600030101010101" pitchFamily="2" charset="-122"/>
                <a:ea typeface="宋体" panose="02010600030101010101" pitchFamily="2" charset="-122"/>
                <a:sym typeface="+mn-ea"/>
              </a:rPr>
              <a:t>高频段能量比</a:t>
            </a:r>
            <a:r>
              <a:rPr lang="zh-CN" altLang="en-US" sz="1600" dirty="0" smtClean="0">
                <a:latin typeface="宋体" panose="02010600030101010101" pitchFamily="2" charset="-122"/>
                <a:ea typeface="宋体" panose="02010600030101010101" pitchFamily="2" charset="-122"/>
                <a:sym typeface="+mn-ea"/>
              </a:rPr>
              <a:t>（</a:t>
            </a:r>
            <a:r>
              <a:rPr lang="en-US" altLang="zh-CN" sz="1600" dirty="0" smtClean="0">
                <a:latin typeface="宋体" panose="02010600030101010101" pitchFamily="2" charset="-122"/>
                <a:ea typeface="宋体" panose="02010600030101010101" pitchFamily="2" charset="-122"/>
                <a:sym typeface="+mn-ea"/>
              </a:rPr>
              <a:t>500Hz</a:t>
            </a:r>
            <a:r>
              <a:rPr lang="zh-CN" altLang="en-US" sz="1600" dirty="0" smtClean="0">
                <a:latin typeface="宋体" panose="02010600030101010101" pitchFamily="2" charset="-122"/>
                <a:ea typeface="宋体" panose="02010600030101010101" pitchFamily="2" charset="-122"/>
                <a:sym typeface="+mn-ea"/>
              </a:rPr>
              <a:t>以上）</a:t>
            </a:r>
            <a:r>
              <a:rPr lang="en-US" altLang="zh-CN" sz="1600" dirty="0" smtClean="0">
                <a:latin typeface="宋体" panose="02010600030101010101" pitchFamily="2" charset="-122"/>
                <a:ea typeface="宋体" panose="02010600030101010101" pitchFamily="2" charset="-122"/>
                <a:sym typeface="+mn-ea"/>
              </a:rPr>
              <a:t>]</a:t>
            </a:r>
            <a:endParaRPr lang="en-US" altLang="zh-CN" sz="1600" dirty="0">
              <a:latin typeface="宋体" panose="02010600030101010101" pitchFamily="2" charset="-122"/>
              <a:ea typeface="宋体" panose="02010600030101010101" pitchFamily="2" charset="-122"/>
            </a:endParaRPr>
          </a:p>
          <a:p>
            <a:pPr marL="457200" indent="0" fontAlgn="auto">
              <a:lnSpc>
                <a:spcPct val="150000"/>
              </a:lnSpc>
              <a:buNone/>
            </a:pPr>
            <a:r>
              <a:rPr lang="en-US" altLang="zh-CN" sz="1600" dirty="0">
                <a:latin typeface="黑体" panose="02010609060101010101" charset="-122"/>
                <a:ea typeface="黑体" panose="02010609060101010101" charset="-122"/>
                <a:sym typeface="+mn-ea"/>
              </a:rPr>
              <a:t>3.功率谱在统计学上的分析：</a:t>
            </a:r>
          </a:p>
          <a:p>
            <a:pPr marL="914400" algn="l" fontAlgn="auto">
              <a:lnSpc>
                <a:spcPct val="150000"/>
              </a:lnSpc>
              <a:buNone/>
              <a:extLst>
                <a:ext uri="{35155182-B16C-46BC-9424-99874614C6A1}">
                  <wpsdc:marlchars xmlns="" xmlns:wpsdc="http://www.wps.cn/officeDocument/2017/drawingmlCustomData" val="400" checksum="1645423262"/>
                </a:ext>
              </a:extLst>
            </a:pPr>
            <a:r>
              <a:rPr lang="en-US" altLang="zh-CN" sz="1600" dirty="0">
                <a:latin typeface="宋体" panose="02010600030101010101" pitchFamily="2" charset="-122"/>
                <a:ea typeface="宋体" panose="02010600030101010101" pitchFamily="2" charset="-122"/>
              </a:rPr>
              <a:t>x3=[</a:t>
            </a:r>
            <a:r>
              <a:rPr lang="en-US" altLang="zh-CN" sz="1600" dirty="0" err="1">
                <a:latin typeface="宋体" panose="02010600030101010101" pitchFamily="2" charset="-122"/>
                <a:ea typeface="宋体" panose="02010600030101010101" pitchFamily="2" charset="-122"/>
              </a:rPr>
              <a:t>平均值,中值,几何平均值,调和平均值,切尾平均值,标准差,四分位极差,平均绝对偏差值</a:t>
            </a:r>
            <a:r>
              <a:rPr lang="en-US" altLang="zh-CN" sz="1600" dirty="0">
                <a:latin typeface="宋体" panose="02010600030101010101" pitchFamily="2" charset="-122"/>
                <a:ea typeface="宋体" panose="02010600030101010101" pitchFamily="2" charset="-122"/>
              </a:rPr>
              <a:t>]</a:t>
            </a:r>
          </a:p>
          <a:p>
            <a:pPr marL="457200" indent="0" fontAlgn="auto">
              <a:lnSpc>
                <a:spcPct val="150000"/>
              </a:lnSpc>
              <a:buNone/>
            </a:pPr>
            <a:r>
              <a:rPr lang="en-US" altLang="zh-CN" sz="1600" dirty="0">
                <a:latin typeface="黑体" panose="02010609060101010101" charset="-122"/>
                <a:ea typeface="黑体" panose="02010609060101010101" charset="-122"/>
                <a:sym typeface="+mn-ea"/>
              </a:rPr>
              <a:t>4.特征归一化：</a:t>
            </a:r>
          </a:p>
          <a:p>
            <a:pPr marL="914400" algn="l" fontAlgn="auto">
              <a:lnSpc>
                <a:spcPct val="150000"/>
              </a:lnSpc>
              <a:buNone/>
              <a:extLst>
                <a:ext uri="{35155182-B16C-46BC-9424-99874614C6A1}">
                  <wpsdc:marlchars xmlns="" xmlns:wpsdc="http://www.wps.cn/officeDocument/2017/drawingmlCustomData" val="400" checksum="1645423262"/>
                </a:ext>
              </a:extLst>
            </a:pPr>
            <a:r>
              <a:rPr lang="en-US" altLang="zh-CN" sz="1600" dirty="0">
                <a:latin typeface="宋体" panose="02010600030101010101" pitchFamily="2" charset="-122"/>
                <a:ea typeface="宋体" panose="02010600030101010101" pitchFamily="2" charset="-122"/>
                <a:sym typeface="+mn-ea"/>
              </a:rPr>
              <a:t>W=X/max(X)</a:t>
            </a:r>
          </a:p>
          <a:p>
            <a:pPr marL="457200" indent="0" fontAlgn="auto">
              <a:lnSpc>
                <a:spcPct val="150000"/>
              </a:lnSpc>
              <a:buNone/>
            </a:pPr>
            <a:r>
              <a:rPr lang="zh-CN" altLang="en-US" sz="1400" dirty="0">
                <a:latin typeface="黑体" panose="02010609060101010101" charset="-122"/>
                <a:ea typeface="黑体" panose="02010609060101010101" charset="-122"/>
                <a:sym typeface="+mn-ea"/>
              </a:rPr>
              <a:t>               </a:t>
            </a:r>
            <a:endParaRPr lang="zh-CN" altLang="en-US" sz="1400" dirty="0">
              <a:latin typeface="黑体" panose="02010609060101010101" charset="-122"/>
              <a:ea typeface="黑体" panose="02010609060101010101" charset="-122"/>
            </a:endParaRPr>
          </a:p>
          <a:p>
            <a:pPr indent="0" fontAlgn="auto">
              <a:lnSpc>
                <a:spcPct val="150000"/>
              </a:lnSpc>
              <a:buNone/>
            </a:pPr>
            <a:endParaRPr lang="zh-CN" altLang="en-US" sz="1400" b="0" dirty="0" smtClean="0">
              <a:latin typeface="黑体" panose="02010609060101010101" charset="-122"/>
              <a:ea typeface="黑体" panose="02010609060101010101" charset="-122"/>
              <a:cs typeface="+mn-ea"/>
              <a:sym typeface="+mn-ea"/>
            </a:endParaRPr>
          </a:p>
        </p:txBody>
      </p:sp>
      <p:grpSp>
        <p:nvGrpSpPr>
          <p:cNvPr id="4" name="组合 3"/>
          <p:cNvGrpSpPr/>
          <p:nvPr/>
        </p:nvGrpSpPr>
        <p:grpSpPr>
          <a:xfrm>
            <a:off x="3810" y="356870"/>
            <a:ext cx="5117466" cy="460375"/>
            <a:chOff x="0" y="522689"/>
            <a:chExt cx="3607279" cy="508886"/>
          </a:xfrm>
          <a:solidFill>
            <a:srgbClr val="802358"/>
          </a:solidFill>
        </p:grpSpPr>
        <p:grpSp>
          <p:nvGrpSpPr>
            <p:cNvPr id="21" name="组合 20"/>
            <p:cNvGrpSpPr/>
            <p:nvPr/>
          </p:nvGrpSpPr>
          <p:grpSpPr>
            <a:xfrm>
              <a:off x="0" y="533201"/>
              <a:ext cx="3415702" cy="492760"/>
              <a:chOff x="0" y="278653"/>
              <a:chExt cx="3415702" cy="492760"/>
            </a:xfrm>
            <a:grpFill/>
          </p:grpSpPr>
          <p:sp>
            <p:nvSpPr>
              <p:cNvPr id="22" name="矩形 21"/>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23" name="直角三角形 22"/>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24"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smtClean="0">
                <a:solidFill>
                  <a:schemeClr val="bg1"/>
                </a:solidFill>
                <a:latin typeface="黑体" panose="02010609060101010101" charset="-122"/>
                <a:ea typeface="黑体" panose="02010609060101010101"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A99A888-F0A6-497F-A203-744BF10280CF}" type="slidenum">
              <a:rPr lang="zh-CN" altLang="en-US" sz="900" smtClean="0"/>
              <a:pPr/>
              <a:t>19</a:t>
            </a:fld>
            <a:endParaRPr lang="zh-CN" altLang="en-US" sz="900"/>
          </a:p>
        </p:txBody>
      </p:sp>
      <p:grpSp>
        <p:nvGrpSpPr>
          <p:cNvPr id="4" name="组合 3"/>
          <p:cNvGrpSpPr/>
          <p:nvPr/>
        </p:nvGrpSpPr>
        <p:grpSpPr>
          <a:xfrm>
            <a:off x="3810" y="356870"/>
            <a:ext cx="5117466" cy="460375"/>
            <a:chOff x="0" y="522689"/>
            <a:chExt cx="3607279" cy="508886"/>
          </a:xfrm>
          <a:solidFill>
            <a:srgbClr val="802358"/>
          </a:solidFill>
        </p:grpSpPr>
        <p:grpSp>
          <p:nvGrpSpPr>
            <p:cNvPr id="21" name="组合 20"/>
            <p:cNvGrpSpPr/>
            <p:nvPr/>
          </p:nvGrpSpPr>
          <p:grpSpPr>
            <a:xfrm>
              <a:off x="0" y="533201"/>
              <a:ext cx="3415702" cy="492760"/>
              <a:chOff x="0" y="278653"/>
              <a:chExt cx="3415702" cy="492760"/>
            </a:xfrm>
            <a:grpFill/>
          </p:grpSpPr>
          <p:sp>
            <p:nvSpPr>
              <p:cNvPr id="22" name="矩形 21"/>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23" name="直角三角形 22"/>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24"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smtClean="0">
                <a:solidFill>
                  <a:schemeClr val="bg1"/>
                </a:solidFill>
                <a:latin typeface="黑体" panose="02010609060101010101" charset="-122"/>
                <a:ea typeface="黑体" panose="02010609060101010101" charset="-122"/>
              </a:endParaRPr>
            </a:p>
          </p:txBody>
        </p:sp>
      </p:gr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 y="1131813"/>
            <a:ext cx="8675370" cy="3680218"/>
          </a:xfrm>
          <a:prstGeom prst="rect">
            <a:avLst/>
          </a:prstGeom>
        </p:spPr>
      </p:pic>
      <p:sp>
        <p:nvSpPr>
          <p:cNvPr id="6" name="文本框 5"/>
          <p:cNvSpPr txBox="1"/>
          <p:nvPr/>
        </p:nvSpPr>
        <p:spPr>
          <a:xfrm>
            <a:off x="228600" y="5252820"/>
            <a:ext cx="7955280" cy="646331"/>
          </a:xfrm>
          <a:prstGeom prst="rect">
            <a:avLst/>
          </a:prstGeom>
          <a:noFill/>
        </p:spPr>
        <p:txBody>
          <a:bodyPr wrap="square" rtlCol="0">
            <a:spAutoFit/>
          </a:bodyPr>
          <a:lstStyle/>
          <a:p>
            <a:r>
              <a:rPr lang="zh-CN" altLang="zh-CN" dirty="0"/>
              <a:t>正常音功率谱基本成线性衰减，而异常音功率谱曲线有多个驼峰点，二者功率谱有明显</a:t>
            </a:r>
            <a:r>
              <a:rPr lang="zh-CN" altLang="zh-CN" dirty="0" smtClean="0"/>
              <a:t>差异</a:t>
            </a:r>
            <a:r>
              <a:rPr lang="zh-CN" altLang="en-US" dirty="0" smtClean="0"/>
              <a:t>。</a:t>
            </a:r>
            <a:endParaRPr lang="zh-CN" altLang="en-US" dirty="0"/>
          </a:p>
        </p:txBody>
      </p:sp>
    </p:spTree>
    <p:extLst>
      <p:ext uri="{BB962C8B-B14F-4D97-AF65-F5344CB8AC3E}">
        <p14:creationId xmlns:p14="http://schemas.microsoft.com/office/powerpoint/2010/main" val="167743279"/>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05130" y="817245"/>
            <a:ext cx="8475980" cy="6001643"/>
          </a:xfrm>
          <a:prstGeom prst="rect">
            <a:avLst/>
          </a:prstGeom>
          <a:noFill/>
          <a:ln w="9525">
            <a:noFill/>
          </a:ln>
        </p:spPr>
        <p:txBody>
          <a:bodyPr wrap="square">
            <a:spAutoFit/>
          </a:bodyPr>
          <a:lstStyle/>
          <a:p>
            <a:pPr>
              <a:lnSpc>
                <a:spcPct val="150000"/>
              </a:lnSpc>
            </a:pPr>
            <a:r>
              <a:rPr lang="zh-CN" altLang="en-US" sz="2000" dirty="0" smtClean="0">
                <a:latin typeface="黑体" panose="02010609060101010101" charset="-122"/>
                <a:ea typeface="黑体" panose="02010609060101010101" charset="-122"/>
                <a:sym typeface="+mn-ea"/>
              </a:rPr>
              <a:t>基于小波变换的肺音特征</a:t>
            </a:r>
            <a:endParaRPr lang="en-US" altLang="zh-CN" sz="2000" dirty="0" smtClean="0">
              <a:latin typeface="黑体" panose="02010609060101010101" charset="-122"/>
              <a:ea typeface="黑体" panose="02010609060101010101" charset="-122"/>
              <a:sym typeface="+mn-ea"/>
            </a:endParaRPr>
          </a:p>
          <a:p>
            <a:pPr marL="285750" indent="-285750">
              <a:lnSpc>
                <a:spcPct val="150000"/>
              </a:lnSpc>
              <a:buFont typeface="Wingdings" panose="05000000000000000000" charset="0"/>
              <a:buChar char=""/>
            </a:pPr>
            <a:r>
              <a:rPr lang="zh-CN" sz="2000" dirty="0" smtClean="0">
                <a:latin typeface="黑体" panose="02010609060101010101" charset="-122"/>
                <a:ea typeface="黑体" panose="02010609060101010101" charset="-122"/>
                <a:sym typeface="+mn-ea"/>
              </a:rPr>
              <a:t>小</a:t>
            </a:r>
            <a:r>
              <a:rPr lang="zh-CN" sz="2000" dirty="0">
                <a:latin typeface="黑体" panose="02010609060101010101" charset="-122"/>
                <a:ea typeface="黑体" panose="02010609060101010101" charset="-122"/>
                <a:sym typeface="+mn-ea"/>
              </a:rPr>
              <a:t>波分解</a:t>
            </a:r>
            <a:r>
              <a:rPr lang="zh-CN" sz="1600" dirty="0">
                <a:latin typeface="黑体" panose="02010609060101010101" charset="-122"/>
                <a:ea typeface="黑体" panose="02010609060101010101" charset="-122"/>
                <a:sym typeface="+mn-ea"/>
              </a:rPr>
              <a:t>：</a:t>
            </a:r>
            <a:endParaRPr lang="zh-CN" sz="1600" dirty="0">
              <a:latin typeface="黑体" panose="02010609060101010101" charset="-122"/>
              <a:ea typeface="黑体" panose="02010609060101010101" charset="-122"/>
            </a:endParaRPr>
          </a:p>
          <a:p>
            <a:pPr marL="457200" indent="0" fontAlgn="auto">
              <a:lnSpc>
                <a:spcPct val="150000"/>
              </a:lnSpc>
              <a:buNone/>
            </a:pPr>
            <a:r>
              <a:rPr lang="zh-CN" sz="1600" dirty="0">
                <a:latin typeface="黑体" panose="02010609060101010101" charset="-122"/>
                <a:ea typeface="黑体" panose="02010609060101010101" charset="-122"/>
                <a:sym typeface="+mn-ea"/>
              </a:rPr>
              <a:t>一种结合时频信息的多分辨率分解信号的方法，低频信号连续多级分解，高频信号不再分解</a:t>
            </a:r>
          </a:p>
          <a:p>
            <a:pPr marL="457200" indent="0" fontAlgn="auto">
              <a:lnSpc>
                <a:spcPct val="150000"/>
              </a:lnSpc>
              <a:buNone/>
            </a:pPr>
            <a:endParaRPr lang="zh-CN" sz="1600" dirty="0">
              <a:latin typeface="黑体" panose="02010609060101010101" charset="-122"/>
              <a:ea typeface="黑体" panose="02010609060101010101" charset="-122"/>
              <a:sym typeface="+mn-ea"/>
            </a:endParaRPr>
          </a:p>
          <a:p>
            <a:pPr marL="285750" indent="-285750">
              <a:lnSpc>
                <a:spcPct val="150000"/>
              </a:lnSpc>
              <a:buFont typeface="Wingdings" panose="05000000000000000000" charset="0"/>
              <a:buChar char=""/>
            </a:pPr>
            <a:endParaRPr lang="zh-CN" sz="2000" dirty="0">
              <a:latin typeface="黑体" panose="02010609060101010101" charset="-122"/>
              <a:ea typeface="黑体" panose="02010609060101010101" charset="-122"/>
              <a:sym typeface="+mn-ea"/>
            </a:endParaRPr>
          </a:p>
          <a:p>
            <a:pPr marL="285750" indent="-285750">
              <a:lnSpc>
                <a:spcPct val="150000"/>
              </a:lnSpc>
              <a:buFont typeface="Wingdings" panose="05000000000000000000" charset="0"/>
              <a:buChar char=""/>
            </a:pPr>
            <a:r>
              <a:rPr lang="zh-CN" sz="2000" dirty="0">
                <a:latin typeface="黑体" panose="02010609060101010101" charset="-122"/>
                <a:ea typeface="黑体" panose="02010609060101010101" charset="-122"/>
                <a:sym typeface="+mn-ea"/>
              </a:rPr>
              <a:t>选取肺音</a:t>
            </a:r>
            <a:r>
              <a:rPr lang="zh-CN" sz="2000" dirty="0" smtClean="0">
                <a:latin typeface="黑体" panose="02010609060101010101" charset="-122"/>
                <a:ea typeface="黑体" panose="02010609060101010101" charset="-122"/>
                <a:sym typeface="+mn-ea"/>
              </a:rPr>
              <a:t>特征</a:t>
            </a:r>
            <a:r>
              <a:rPr lang="zh-CN" altLang="en-US" sz="2000" dirty="0" smtClean="0">
                <a:latin typeface="黑体" panose="02010609060101010101" charset="-122"/>
                <a:ea typeface="黑体" panose="02010609060101010101" charset="-122"/>
                <a:sym typeface="+mn-ea"/>
              </a:rPr>
              <a:t>（</a:t>
            </a:r>
            <a:r>
              <a:rPr lang="zh-CN" altLang="zh-CN" dirty="0"/>
              <a:t>选取</a:t>
            </a:r>
            <a:r>
              <a:rPr lang="en-US" altLang="zh-CN" dirty="0"/>
              <a:t>cD2-cD7</a:t>
            </a:r>
            <a:r>
              <a:rPr lang="zh-CN" altLang="zh-CN" dirty="0"/>
              <a:t>小波系数代表肺音特征研究对象</a:t>
            </a:r>
            <a:r>
              <a:rPr lang="zh-CN" altLang="en-US" sz="2000" dirty="0" smtClean="0">
                <a:latin typeface="黑体" panose="02010609060101010101" charset="-122"/>
                <a:ea typeface="黑体" panose="02010609060101010101" charset="-122"/>
                <a:sym typeface="+mn-ea"/>
              </a:rPr>
              <a:t>）</a:t>
            </a:r>
            <a:endParaRPr lang="zh-CN" sz="2000" dirty="0">
              <a:latin typeface="黑体" panose="02010609060101010101" charset="-122"/>
              <a:ea typeface="黑体" panose="02010609060101010101" charset="-122"/>
              <a:sym typeface="+mn-ea"/>
            </a:endParaRPr>
          </a:p>
          <a:p>
            <a:pPr marL="457200" indent="0" fontAlgn="auto">
              <a:lnSpc>
                <a:spcPct val="150000"/>
              </a:lnSpc>
              <a:buNone/>
            </a:pPr>
            <a:r>
              <a:rPr lang="en-US" altLang="zh-CN" sz="1600" dirty="0">
                <a:latin typeface="黑体" panose="02010609060101010101" charset="-122"/>
                <a:ea typeface="黑体" panose="02010609060101010101" charset="-122"/>
                <a:sym typeface="+mn-ea"/>
              </a:rPr>
              <a:t>1.</a:t>
            </a:r>
            <a:r>
              <a:rPr lang="zh-CN" altLang="en-US" sz="1600" dirty="0">
                <a:latin typeface="黑体" panose="02010609060101010101" charset="-122"/>
                <a:ea typeface="黑体" panose="02010609060101010101" charset="-122"/>
                <a:sym typeface="+mn-ea"/>
              </a:rPr>
              <a:t>小波系数在统计学上的分析：</a:t>
            </a:r>
          </a:p>
          <a:p>
            <a:pPr marL="457200"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dirty="0">
                <a:latin typeface="宋体" panose="02010600030101010101" pitchFamily="2" charset="-122"/>
                <a:ea typeface="宋体" panose="02010600030101010101" pitchFamily="2" charset="-122"/>
              </a:rPr>
              <a:t>y1=[</a:t>
            </a:r>
            <a:r>
              <a:rPr lang="en-US" altLang="zh-CN" sz="1600" dirty="0" err="1">
                <a:latin typeface="宋体" panose="02010600030101010101" pitchFamily="2" charset="-122"/>
                <a:ea typeface="宋体" panose="02010600030101010101" pitchFamily="2" charset="-122"/>
              </a:rPr>
              <a:t>各层系数的绝对平均值</a:t>
            </a:r>
            <a:r>
              <a:rPr lang="en-US" altLang="zh-CN" sz="1600" dirty="0">
                <a:latin typeface="宋体" panose="02010600030101010101" pitchFamily="2" charset="-122"/>
                <a:ea typeface="宋体" panose="02010600030101010101" pitchFamily="2" charset="-122"/>
              </a:rPr>
              <a:t>]</a:t>
            </a:r>
          </a:p>
          <a:p>
            <a:pPr marL="457200"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dirty="0">
                <a:latin typeface="宋体" panose="02010600030101010101" pitchFamily="2" charset="-122"/>
                <a:ea typeface="宋体" panose="02010600030101010101" pitchFamily="2" charset="-122"/>
              </a:rPr>
              <a:t>y2=[</a:t>
            </a:r>
            <a:r>
              <a:rPr lang="en-US" altLang="zh-CN" sz="1600" dirty="0" err="1">
                <a:latin typeface="宋体" panose="02010600030101010101" pitchFamily="2" charset="-122"/>
                <a:ea typeface="宋体" panose="02010600030101010101" pitchFamily="2" charset="-122"/>
                <a:sym typeface="+mn-ea"/>
              </a:rPr>
              <a:t>各层</a:t>
            </a:r>
            <a:r>
              <a:rPr lang="en-US" altLang="zh-CN" sz="1600" dirty="0" err="1">
                <a:latin typeface="宋体" panose="02010600030101010101" pitchFamily="2" charset="-122"/>
                <a:ea typeface="宋体" panose="02010600030101010101" pitchFamily="2" charset="-122"/>
              </a:rPr>
              <a:t>系数的标准方差</a:t>
            </a:r>
            <a:r>
              <a:rPr lang="en-US" altLang="zh-CN" sz="1600" dirty="0">
                <a:latin typeface="宋体" panose="02010600030101010101" pitchFamily="2" charset="-122"/>
                <a:ea typeface="宋体" panose="02010600030101010101" pitchFamily="2" charset="-122"/>
              </a:rPr>
              <a:t>]</a:t>
            </a:r>
          </a:p>
          <a:p>
            <a:pPr marL="457200"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dirty="0">
                <a:latin typeface="宋体" panose="02010600030101010101" pitchFamily="2" charset="-122"/>
                <a:ea typeface="宋体" panose="02010600030101010101" pitchFamily="2" charset="-122"/>
              </a:rPr>
              <a:t>y3=[</a:t>
            </a:r>
            <a:r>
              <a:rPr lang="en-US" altLang="zh-CN" sz="1600" dirty="0" err="1">
                <a:latin typeface="宋体" panose="02010600030101010101" pitchFamily="2" charset="-122"/>
                <a:ea typeface="宋体" panose="02010600030101010101" pitchFamily="2" charset="-122"/>
              </a:rPr>
              <a:t>相邻小波系数带的绝对平均值比值</a:t>
            </a:r>
            <a:r>
              <a:rPr lang="en-US" altLang="zh-CN" sz="1600" dirty="0">
                <a:latin typeface="宋体" panose="02010600030101010101" pitchFamily="2" charset="-122"/>
                <a:ea typeface="宋体" panose="02010600030101010101" pitchFamily="2" charset="-122"/>
              </a:rPr>
              <a:t>]</a:t>
            </a:r>
          </a:p>
          <a:p>
            <a:pPr marL="457200" fontAlgn="auto">
              <a:lnSpc>
                <a:spcPct val="150000"/>
              </a:lnSpc>
              <a:buNone/>
            </a:pPr>
            <a:r>
              <a:rPr lang="en-US" altLang="zh-CN" sz="1600" dirty="0">
                <a:latin typeface="黑体" panose="02010609060101010101" charset="-122"/>
                <a:ea typeface="黑体" panose="02010609060101010101" charset="-122"/>
                <a:sym typeface="+mn-ea"/>
              </a:rPr>
              <a:t>2.小波能量系数</a:t>
            </a:r>
          </a:p>
          <a:p>
            <a:pPr marL="457200"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dirty="0">
                <a:latin typeface="宋体" panose="02010600030101010101" pitchFamily="2" charset="-122"/>
                <a:ea typeface="宋体" panose="02010600030101010101" pitchFamily="2" charset="-122"/>
              </a:rPr>
              <a:t>y4=[</a:t>
            </a:r>
            <a:r>
              <a:rPr lang="en-US" altLang="zh-CN" sz="1600" dirty="0" err="1">
                <a:latin typeface="宋体" panose="02010600030101010101" pitchFamily="2" charset="-122"/>
                <a:ea typeface="宋体" panose="02010600030101010101" pitchFamily="2" charset="-122"/>
              </a:rPr>
              <a:t>小波系数能量</a:t>
            </a:r>
            <a:r>
              <a:rPr lang="en-US" altLang="zh-CN" sz="1600" dirty="0">
                <a:latin typeface="宋体" panose="02010600030101010101" pitchFamily="2" charset="-122"/>
                <a:ea typeface="宋体" panose="02010600030101010101" pitchFamily="2" charset="-122"/>
              </a:rPr>
              <a:t>]</a:t>
            </a:r>
          </a:p>
          <a:p>
            <a:pPr marL="457200" fontAlgn="auto">
              <a:lnSpc>
                <a:spcPct val="150000"/>
              </a:lnSpc>
              <a:buNone/>
            </a:pPr>
            <a:r>
              <a:rPr lang="en-US" altLang="zh-CN" sz="1600" dirty="0">
                <a:latin typeface="黑体" panose="02010609060101010101" charset="-122"/>
                <a:ea typeface="黑体" panose="02010609060101010101" charset="-122"/>
                <a:sym typeface="+mn-ea"/>
              </a:rPr>
              <a:t>3.特征归一化</a:t>
            </a:r>
          </a:p>
          <a:p>
            <a:pPr marL="457200" indent="406400" fontAlgn="auto">
              <a:lnSpc>
                <a:spcPct val="150000"/>
              </a:lnSpc>
              <a:buNone/>
              <a:extLst>
                <a:ext uri="{35155182-B16C-46BC-9424-99874614C6A1}">
                  <wpsdc:indentchars xmlns="" xmlns:wpsdc="http://www.wps.cn/officeDocument/2017/drawingmlCustomData" val="200" checksum="1740828767"/>
                </a:ext>
              </a:extLst>
            </a:pPr>
            <a:r>
              <a:rPr lang="en-US" altLang="zh-CN" sz="1600" b="0" dirty="0">
                <a:latin typeface="宋体" panose="02010600030101010101" pitchFamily="2" charset="-122"/>
                <a:ea typeface="宋体" panose="02010600030101010101" pitchFamily="2" charset="-122"/>
                <a:sym typeface="+mn-ea"/>
              </a:rPr>
              <a:t>T=Y/</a:t>
            </a:r>
            <a:r>
              <a:rPr lang="en-US" altLang="zh-CN" sz="1600" b="0" dirty="0" err="1">
                <a:latin typeface="宋体" panose="02010600030101010101" pitchFamily="2" charset="-122"/>
                <a:ea typeface="宋体" panose="02010600030101010101" pitchFamily="2" charset="-122"/>
                <a:sym typeface="+mn-ea"/>
              </a:rPr>
              <a:t>max（Y</a:t>
            </a:r>
            <a:r>
              <a:rPr lang="en-US" altLang="zh-CN" sz="1600" b="0" dirty="0">
                <a:latin typeface="宋体" panose="02010600030101010101" pitchFamily="2" charset="-122"/>
                <a:ea typeface="宋体" panose="02010600030101010101" pitchFamily="2" charset="-122"/>
                <a:sym typeface="+mn-ea"/>
              </a:rPr>
              <a:t>）</a:t>
            </a:r>
          </a:p>
        </p:txBody>
      </p:sp>
      <p:sp>
        <p:nvSpPr>
          <p:cNvPr id="39" name="灯片编号占位符 38"/>
          <p:cNvSpPr>
            <a:spLocks noGrp="1"/>
          </p:cNvSpPr>
          <p:nvPr>
            <p:ph type="sldNum" sz="quarter" idx="12"/>
          </p:nvPr>
        </p:nvSpPr>
        <p:spPr/>
        <p:txBody>
          <a:bodyPr/>
          <a:lstStyle/>
          <a:p>
            <a:fld id="{4A99A888-F0A6-497F-A203-744BF10280CF}" type="slidenum">
              <a:rPr lang="zh-CN" altLang="en-US" smtClean="0"/>
              <a:pPr/>
              <a:t>20</a:t>
            </a:fld>
            <a:endParaRPr lang="zh-CN" altLang="en-US"/>
          </a:p>
        </p:txBody>
      </p:sp>
      <p:grpSp>
        <p:nvGrpSpPr>
          <p:cNvPr id="3" name="组合 2"/>
          <p:cNvGrpSpPr/>
          <p:nvPr/>
        </p:nvGrpSpPr>
        <p:grpSpPr>
          <a:xfrm>
            <a:off x="3810" y="356870"/>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6" name="矩形 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7" name="直角三角形 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8"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smtClean="0">
                <a:solidFill>
                  <a:schemeClr val="bg1"/>
                </a:solidFill>
                <a:latin typeface="黑体" panose="02010609060101010101" charset="-122"/>
                <a:ea typeface="黑体" panose="02010609060101010101" charset="-122"/>
              </a:endParaRPr>
            </a:p>
          </p:txBody>
        </p:sp>
      </p:grpSp>
      <p:pic>
        <p:nvPicPr>
          <p:cNvPr id="11" name="图片 10"/>
          <p:cNvPicPr>
            <a:picLocks noChangeAspect="1"/>
          </p:cNvPicPr>
          <p:nvPr/>
        </p:nvPicPr>
        <p:blipFill>
          <a:blip r:embed="rId3" cstate="print"/>
          <a:stretch>
            <a:fillRect/>
          </a:stretch>
        </p:blipFill>
        <p:spPr>
          <a:xfrm>
            <a:off x="1165860" y="2571750"/>
            <a:ext cx="4895215" cy="6921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descr="图4.4 正常肺音（上）"/>
          <p:cNvPicPr>
            <a:picLocks noChangeAspect="1"/>
          </p:cNvPicPr>
          <p:nvPr/>
        </p:nvPicPr>
        <p:blipFill>
          <a:blip r:embed="rId3" cstate="print"/>
          <a:stretch>
            <a:fillRect/>
          </a:stretch>
        </p:blipFill>
        <p:spPr>
          <a:xfrm>
            <a:off x="742950" y="742950"/>
            <a:ext cx="6743700" cy="4423410"/>
          </a:xfrm>
          <a:prstGeom prst="rect">
            <a:avLst/>
          </a:prstGeom>
        </p:spPr>
      </p:pic>
      <p:sp>
        <p:nvSpPr>
          <p:cNvPr id="39" name="灯片编号占位符 38"/>
          <p:cNvSpPr>
            <a:spLocks noGrp="1"/>
          </p:cNvSpPr>
          <p:nvPr>
            <p:ph type="sldNum" sz="quarter" idx="12"/>
          </p:nvPr>
        </p:nvSpPr>
        <p:spPr/>
        <p:txBody>
          <a:bodyPr/>
          <a:lstStyle/>
          <a:p>
            <a:fld id="{4A99A888-F0A6-497F-A203-744BF10280CF}" type="slidenum">
              <a:rPr lang="zh-CN" altLang="en-US" smtClean="0"/>
              <a:pPr/>
              <a:t>21</a:t>
            </a:fld>
            <a:endParaRPr lang="zh-CN" altLang="en-US"/>
          </a:p>
        </p:txBody>
      </p:sp>
      <p:grpSp>
        <p:nvGrpSpPr>
          <p:cNvPr id="3" name="组合 2"/>
          <p:cNvGrpSpPr/>
          <p:nvPr/>
        </p:nvGrpSpPr>
        <p:grpSpPr>
          <a:xfrm>
            <a:off x="0" y="164941"/>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6" name="矩形 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7" name="直角三角形 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8"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smtClean="0">
                <a:solidFill>
                  <a:schemeClr val="bg1"/>
                </a:solidFill>
                <a:latin typeface="黑体" panose="02010609060101010101" charset="-122"/>
                <a:ea typeface="黑体" panose="02010609060101010101" charset="-122"/>
              </a:endParaRPr>
            </a:p>
          </p:txBody>
        </p:sp>
      </p:grpSp>
    </p:spTree>
    <p:extLst>
      <p:ext uri="{BB962C8B-B14F-4D97-AF65-F5344CB8AC3E}">
        <p14:creationId xmlns:p14="http://schemas.microsoft.com/office/powerpoint/2010/main" val="183551678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descr="图4.4 异常肺音（下）的小波分解各层系数分布图"/>
          <p:cNvPicPr>
            <a:picLocks noChangeAspect="1"/>
          </p:cNvPicPr>
          <p:nvPr/>
        </p:nvPicPr>
        <p:blipFill>
          <a:blip r:embed="rId3" cstate="print"/>
          <a:stretch>
            <a:fillRect/>
          </a:stretch>
        </p:blipFill>
        <p:spPr>
          <a:xfrm>
            <a:off x="927100" y="653974"/>
            <a:ext cx="6559550" cy="4295216"/>
          </a:xfrm>
          <a:prstGeom prst="rect">
            <a:avLst/>
          </a:prstGeom>
        </p:spPr>
      </p:pic>
      <p:sp>
        <p:nvSpPr>
          <p:cNvPr id="39" name="灯片编号占位符 38"/>
          <p:cNvSpPr>
            <a:spLocks noGrp="1"/>
          </p:cNvSpPr>
          <p:nvPr>
            <p:ph type="sldNum" sz="quarter" idx="12"/>
          </p:nvPr>
        </p:nvSpPr>
        <p:spPr/>
        <p:txBody>
          <a:bodyPr/>
          <a:lstStyle/>
          <a:p>
            <a:fld id="{4A99A888-F0A6-497F-A203-744BF10280CF}" type="slidenum">
              <a:rPr lang="zh-CN" altLang="en-US" smtClean="0"/>
              <a:pPr/>
              <a:t>22</a:t>
            </a:fld>
            <a:endParaRPr lang="zh-CN" altLang="en-US"/>
          </a:p>
        </p:txBody>
      </p:sp>
      <p:grpSp>
        <p:nvGrpSpPr>
          <p:cNvPr id="3" name="组合 2"/>
          <p:cNvGrpSpPr/>
          <p:nvPr/>
        </p:nvGrpSpPr>
        <p:grpSpPr>
          <a:xfrm>
            <a:off x="0" y="164941"/>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6" name="矩形 5"/>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7" name="直角三角形 6"/>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8"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smtClean="0">
                <a:solidFill>
                  <a:schemeClr val="bg1"/>
                </a:solidFill>
                <a:latin typeface="黑体" panose="02010609060101010101" charset="-122"/>
                <a:ea typeface="黑体" panose="02010609060101010101" charset="-122"/>
              </a:endParaRPr>
            </a:p>
          </p:txBody>
        </p:sp>
      </p:grpSp>
      <p:sp>
        <p:nvSpPr>
          <p:cNvPr id="2" name="文本框 1"/>
          <p:cNvSpPr txBox="1"/>
          <p:nvPr/>
        </p:nvSpPr>
        <p:spPr>
          <a:xfrm>
            <a:off x="960120" y="5429250"/>
            <a:ext cx="7269480" cy="646331"/>
          </a:xfrm>
          <a:prstGeom prst="rect">
            <a:avLst/>
          </a:prstGeom>
          <a:noFill/>
        </p:spPr>
        <p:txBody>
          <a:bodyPr wrap="square" rtlCol="0">
            <a:spAutoFit/>
          </a:bodyPr>
          <a:lstStyle/>
          <a:p>
            <a:r>
              <a:rPr lang="zh-CN" altLang="zh-CN" dirty="0"/>
              <a:t>正常肺音信号主要集中在</a:t>
            </a:r>
            <a:r>
              <a:rPr lang="en-US" altLang="zh-CN" dirty="0"/>
              <a:t>cD5-cD7</a:t>
            </a:r>
            <a:r>
              <a:rPr lang="zh-CN" altLang="zh-CN" dirty="0"/>
              <a:t>的低频段，异常音信号主要集中在</a:t>
            </a:r>
            <a:r>
              <a:rPr lang="en-US" altLang="zh-CN" dirty="0"/>
              <a:t>cD2-cD5</a:t>
            </a:r>
            <a:r>
              <a:rPr lang="zh-CN" altLang="zh-CN" dirty="0"/>
              <a:t>的高频段。</a:t>
            </a:r>
            <a:endParaRPr lang="zh-CN" altLang="en-US" dirty="0"/>
          </a:p>
        </p:txBody>
      </p:sp>
    </p:spTree>
    <p:extLst>
      <p:ext uri="{BB962C8B-B14F-4D97-AF65-F5344CB8AC3E}">
        <p14:creationId xmlns:p14="http://schemas.microsoft.com/office/powerpoint/2010/main" val="114538588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71475" y="1126490"/>
            <a:ext cx="7910830" cy="4615815"/>
          </a:xfrm>
          <a:prstGeom prst="rect">
            <a:avLst/>
          </a:prstGeom>
          <a:noFill/>
          <a:ln w="9525">
            <a:noFill/>
          </a:ln>
        </p:spPr>
        <p:txBody>
          <a:bodyPr wrap="square">
            <a:spAutoFit/>
          </a:bodyPr>
          <a:lstStyle/>
          <a:p>
            <a:pPr marL="285750" indent="-285750" fontAlgn="auto">
              <a:lnSpc>
                <a:spcPct val="150000"/>
              </a:lnSpc>
              <a:buFont typeface="Wingdings" panose="05000000000000000000" charset="0"/>
              <a:buChar char=""/>
            </a:pPr>
            <a:r>
              <a:rPr lang="zh-CN" altLang="en-US" sz="2000" dirty="0">
                <a:latin typeface="黑体" panose="02010609060101010101" charset="-122"/>
                <a:ea typeface="黑体" panose="02010609060101010101" charset="-122"/>
                <a:sym typeface="+mn-ea"/>
              </a:rPr>
              <a:t>实验设置</a:t>
            </a:r>
          </a:p>
          <a:p>
            <a:pPr marL="742950" indent="-285750" fontAlgn="auto">
              <a:lnSpc>
                <a:spcPct val="150000"/>
              </a:lnSpc>
              <a:buFont typeface="Arial" panose="020B0604020202020204" pitchFamily="34" charset="0"/>
              <a:buChar char="•"/>
            </a:pPr>
            <a:r>
              <a:rPr lang="zh-CN" altLang="zh-CN" sz="1600" dirty="0">
                <a:latin typeface="黑体" panose="02010609060101010101" charset="-122"/>
                <a:ea typeface="黑体" panose="02010609060101010101" charset="-122"/>
                <a:sym typeface="+mn-ea"/>
              </a:rPr>
              <a:t>选择KNN算法作为正常音和异常音的分类模型</a:t>
            </a:r>
          </a:p>
          <a:p>
            <a:pPr marL="742950" indent="-285750" algn="l" fontAlgn="auto">
              <a:lnSpc>
                <a:spcPct val="150000"/>
              </a:lnSpc>
              <a:buFont typeface="Arial" panose="020B0604020202020204" pitchFamily="34" charset="0"/>
              <a:buChar char="•"/>
            </a:pPr>
            <a:r>
              <a:rPr lang="zh-CN" altLang="zh-CN" sz="1600" dirty="0">
                <a:latin typeface="黑体" panose="02010609060101010101" charset="-122"/>
                <a:ea typeface="黑体" panose="02010609060101010101" charset="-122"/>
                <a:sym typeface="+mn-ea"/>
              </a:rPr>
              <a:t>k值选取范围为1~50的所有奇数，选取其中分类效果最好的结果</a:t>
            </a:r>
          </a:p>
          <a:p>
            <a:pPr marL="742950" indent="-285750" algn="l" fontAlgn="auto">
              <a:lnSpc>
                <a:spcPct val="150000"/>
              </a:lnSpc>
              <a:buFont typeface="Arial" panose="020B0604020202020204" pitchFamily="34" charset="0"/>
              <a:buChar char="•"/>
            </a:pPr>
            <a:r>
              <a:rPr lang="zh-CN" altLang="zh-CN" sz="1600" dirty="0">
                <a:latin typeface="黑体" panose="02010609060101010101" charset="-122"/>
                <a:ea typeface="黑体" panose="02010609060101010101" charset="-122"/>
                <a:sym typeface="+mn-ea"/>
              </a:rPr>
              <a:t>数据集随机分成两块，训练集占80%和测试集占20%</a:t>
            </a:r>
          </a:p>
          <a:p>
            <a:pPr indent="406400" algn="l" fontAlgn="auto">
              <a:lnSpc>
                <a:spcPct val="150000"/>
              </a:lnSpc>
              <a:buNone/>
              <a:extLst>
                <a:ext uri="{35155182-B16C-46BC-9424-99874614C6A1}">
                  <wpsdc:indentchars xmlns="" xmlns:wpsdc="http://www.wps.cn/officeDocument/2017/drawingmlCustomData" val="200" checksum="1740828767"/>
                </a:ext>
              </a:extLst>
            </a:pPr>
            <a:endParaRPr lang="zh-CN" altLang="zh-CN" sz="1600" dirty="0">
              <a:latin typeface="黑体" panose="02010609060101010101" charset="-122"/>
              <a:ea typeface="黑体" panose="02010609060101010101" charset="-122"/>
              <a:sym typeface="+mn-ea"/>
            </a:endParaRPr>
          </a:p>
          <a:p>
            <a:pPr indent="406400" algn="l" fontAlgn="auto">
              <a:lnSpc>
                <a:spcPct val="150000"/>
              </a:lnSpc>
              <a:buNone/>
              <a:extLst>
                <a:ext uri="{35155182-B16C-46BC-9424-99874614C6A1}">
                  <wpsdc:indentchars xmlns="" xmlns:wpsdc="http://www.wps.cn/officeDocument/2017/drawingmlCustomData" val="200" checksum="1740828767"/>
                </a:ext>
              </a:extLst>
            </a:pPr>
            <a:r>
              <a:rPr lang="zh-CN" altLang="zh-CN" sz="1600" dirty="0" smtClean="0">
                <a:latin typeface="黑体" panose="02010609060101010101" charset="-122"/>
                <a:ea typeface="黑体" panose="02010609060101010101" charset="-122"/>
                <a:sym typeface="+mn-ea"/>
              </a:rPr>
              <a:t>按</a:t>
            </a:r>
            <a:r>
              <a:rPr lang="en-US" altLang="zh-CN" sz="1600" dirty="0" smtClean="0">
                <a:latin typeface="黑体" panose="02010609060101010101" charset="-122"/>
                <a:ea typeface="黑体" panose="02010609060101010101" charset="-122"/>
                <a:sym typeface="+mn-ea"/>
              </a:rPr>
              <a:t>Welch</a:t>
            </a:r>
            <a:r>
              <a:rPr lang="zh-CN" altLang="zh-CN" sz="1600" dirty="0" smtClean="0">
                <a:latin typeface="黑体" panose="02010609060101010101" charset="-122"/>
                <a:ea typeface="黑体" panose="02010609060101010101" charset="-122"/>
                <a:sym typeface="+mn-ea"/>
              </a:rPr>
              <a:t>与</a:t>
            </a:r>
            <a:r>
              <a:rPr lang="zh-CN" altLang="en-US" sz="1600" dirty="0" smtClean="0">
                <a:latin typeface="黑体" panose="02010609060101010101" charset="-122"/>
                <a:ea typeface="黑体" panose="02010609060101010101" charset="-122"/>
                <a:sym typeface="+mn-ea"/>
              </a:rPr>
              <a:t>小波</a:t>
            </a:r>
            <a:r>
              <a:rPr lang="zh-CN" altLang="zh-CN" sz="1600" dirty="0" smtClean="0">
                <a:latin typeface="黑体" panose="02010609060101010101" charset="-122"/>
                <a:ea typeface="黑体" panose="02010609060101010101" charset="-122"/>
                <a:sym typeface="+mn-ea"/>
              </a:rPr>
              <a:t>方法</a:t>
            </a:r>
            <a:r>
              <a:rPr lang="zh-CN" altLang="zh-CN" sz="1600" dirty="0">
                <a:latin typeface="黑体" panose="02010609060101010101" charset="-122"/>
                <a:ea typeface="黑体" panose="02010609060101010101" charset="-122"/>
                <a:sym typeface="+mn-ea"/>
              </a:rPr>
              <a:t>分别提取肺音特征值，并组合不同的特征向量作为肺音分类的特征，对比不同特征组合的分类效果，组合如下：</a:t>
            </a:r>
          </a:p>
          <a:p>
            <a:pPr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b="0" dirty="0">
                <a:latin typeface="黑体" panose="02010609060101010101" charset="-122"/>
                <a:ea typeface="黑体" panose="02010609060101010101" charset="-122"/>
                <a:sym typeface="+mn-ea"/>
              </a:rPr>
              <a:t>(1)</a:t>
            </a:r>
            <a:r>
              <a:rPr lang="zh-CN" altLang="en-US" sz="1600" b="0" dirty="0">
                <a:latin typeface="黑体" panose="02010609060101010101" charset="-122"/>
                <a:ea typeface="黑体" panose="02010609060101010101" charset="-122"/>
                <a:sym typeface="+mn-ea"/>
              </a:rPr>
              <a:t>选取功率谱最大功率</a:t>
            </a:r>
            <a:r>
              <a:rPr lang="en-US" altLang="zh-CN" sz="1600" b="0" dirty="0">
                <a:latin typeface="黑体" panose="02010609060101010101" charset="-122"/>
                <a:ea typeface="黑体" panose="02010609060101010101" charset="-122"/>
                <a:sym typeface="+mn-ea"/>
              </a:rPr>
              <a:t>x1</a:t>
            </a:r>
            <a:r>
              <a:rPr lang="zh-CN" altLang="en-US" sz="1600" b="0" dirty="0">
                <a:latin typeface="黑体" panose="02010609060101010101" charset="-122"/>
                <a:ea typeface="黑体" panose="02010609060101010101" charset="-122"/>
                <a:sym typeface="+mn-ea"/>
              </a:rPr>
              <a:t>和总功率百分比频率</a:t>
            </a:r>
            <a:r>
              <a:rPr lang="en-US" altLang="zh-CN" sz="1600" b="0" dirty="0">
                <a:latin typeface="黑体" panose="02010609060101010101" charset="-122"/>
                <a:ea typeface="黑体" panose="02010609060101010101" charset="-122"/>
                <a:sym typeface="+mn-ea"/>
              </a:rPr>
              <a:t>x2</a:t>
            </a:r>
            <a:r>
              <a:rPr lang="zh-CN" altLang="en-US" sz="1600" b="0" dirty="0">
                <a:latin typeface="黑体" panose="02010609060101010101" charset="-122"/>
                <a:ea typeface="黑体" panose="02010609060101010101" charset="-122"/>
                <a:sym typeface="+mn-ea"/>
              </a:rPr>
              <a:t>为组合特征 </a:t>
            </a:r>
            <a:r>
              <a:rPr lang="en-US" altLang="zh-CN" sz="1600" b="0" dirty="0">
                <a:solidFill>
                  <a:srgbClr val="FF0000"/>
                </a:solidFill>
                <a:latin typeface="黑体" panose="02010609060101010101" charset="-122"/>
                <a:ea typeface="黑体" panose="02010609060101010101" charset="-122"/>
                <a:sym typeface="+mn-ea"/>
              </a:rPr>
              <a:t>T1</a:t>
            </a:r>
          </a:p>
          <a:p>
            <a:pPr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b="0" dirty="0">
                <a:latin typeface="黑体" panose="02010609060101010101" charset="-122"/>
                <a:ea typeface="黑体" panose="02010609060101010101" charset="-122"/>
                <a:sym typeface="+mn-ea"/>
              </a:rPr>
              <a:t>(2)</a:t>
            </a:r>
            <a:r>
              <a:rPr lang="zh-CN" altLang="en-US" sz="1600" b="0" dirty="0">
                <a:latin typeface="黑体" panose="02010609060101010101" charset="-122"/>
                <a:ea typeface="黑体" panose="02010609060101010101" charset="-122"/>
                <a:sym typeface="+mn-ea"/>
              </a:rPr>
              <a:t>选取功率谱提取的全部特征</a:t>
            </a:r>
            <a:r>
              <a:rPr lang="en-US" altLang="zh-CN" sz="1600" b="0" dirty="0">
                <a:latin typeface="黑体" panose="02010609060101010101" charset="-122"/>
                <a:ea typeface="黑体" panose="02010609060101010101" charset="-122"/>
                <a:sym typeface="+mn-ea"/>
              </a:rPr>
              <a:t>[x1,x2,x3]</a:t>
            </a:r>
            <a:r>
              <a:rPr lang="zh-CN" altLang="en-US" sz="1600" b="0" dirty="0">
                <a:latin typeface="黑体" panose="02010609060101010101" charset="-122"/>
                <a:ea typeface="黑体" panose="02010609060101010101" charset="-122"/>
                <a:sym typeface="+mn-ea"/>
              </a:rPr>
              <a:t>为组合特征 </a:t>
            </a:r>
            <a:r>
              <a:rPr lang="en-US" altLang="zh-CN" sz="1600" b="0" dirty="0">
                <a:solidFill>
                  <a:srgbClr val="FF0000"/>
                </a:solidFill>
                <a:latin typeface="黑体" panose="02010609060101010101" charset="-122"/>
                <a:ea typeface="黑体" panose="02010609060101010101" charset="-122"/>
                <a:sym typeface="+mn-ea"/>
              </a:rPr>
              <a:t>T2</a:t>
            </a:r>
          </a:p>
          <a:p>
            <a:pPr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b="0" dirty="0">
                <a:latin typeface="黑体" panose="02010609060101010101" charset="-122"/>
                <a:ea typeface="黑体" panose="02010609060101010101" charset="-122"/>
                <a:sym typeface="+mn-ea"/>
              </a:rPr>
              <a:t>(3)</a:t>
            </a:r>
            <a:r>
              <a:rPr lang="zh-CN" altLang="en-US" sz="1600" b="0" dirty="0">
                <a:latin typeface="黑体" panose="02010609060101010101" charset="-122"/>
                <a:ea typeface="黑体" panose="02010609060101010101" charset="-122"/>
                <a:sym typeface="+mn-ea"/>
              </a:rPr>
              <a:t>选取小波能量系数</a:t>
            </a:r>
            <a:r>
              <a:rPr lang="en-US" altLang="zh-CN" sz="1600" b="0" dirty="0">
                <a:latin typeface="黑体" panose="02010609060101010101" charset="-122"/>
                <a:ea typeface="黑体" panose="02010609060101010101" charset="-122"/>
                <a:sym typeface="+mn-ea"/>
              </a:rPr>
              <a:t>y4</a:t>
            </a:r>
            <a:r>
              <a:rPr lang="zh-CN" altLang="en-US" sz="1600" b="0" dirty="0">
                <a:latin typeface="黑体" panose="02010609060101010101" charset="-122"/>
                <a:ea typeface="黑体" panose="02010609060101010101" charset="-122"/>
                <a:sym typeface="+mn-ea"/>
              </a:rPr>
              <a:t>为组合特征 </a:t>
            </a:r>
            <a:r>
              <a:rPr lang="en-US" altLang="zh-CN" sz="1600" b="0" dirty="0">
                <a:solidFill>
                  <a:srgbClr val="FF0000"/>
                </a:solidFill>
                <a:latin typeface="黑体" panose="02010609060101010101" charset="-122"/>
                <a:ea typeface="黑体" panose="02010609060101010101" charset="-122"/>
                <a:sym typeface="+mn-ea"/>
              </a:rPr>
              <a:t>T3</a:t>
            </a:r>
          </a:p>
          <a:p>
            <a:pPr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b="0" dirty="0">
                <a:latin typeface="黑体" panose="02010609060101010101" charset="-122"/>
                <a:ea typeface="黑体" panose="02010609060101010101" charset="-122"/>
                <a:sym typeface="+mn-ea"/>
              </a:rPr>
              <a:t>(4)</a:t>
            </a:r>
            <a:r>
              <a:rPr lang="zh-CN" altLang="en-US" sz="1600" b="0" dirty="0">
                <a:latin typeface="黑体" panose="02010609060101010101" charset="-122"/>
                <a:ea typeface="黑体" panose="02010609060101010101" charset="-122"/>
                <a:sym typeface="+mn-ea"/>
              </a:rPr>
              <a:t>选取小波分解提取全部特征</a:t>
            </a:r>
            <a:r>
              <a:rPr lang="en-US" altLang="zh-CN" sz="1600" b="0" dirty="0">
                <a:latin typeface="黑体" panose="02010609060101010101" charset="-122"/>
                <a:ea typeface="黑体" panose="02010609060101010101" charset="-122"/>
                <a:sym typeface="+mn-ea"/>
              </a:rPr>
              <a:t>[y1,y2,y3,y4]</a:t>
            </a:r>
            <a:r>
              <a:rPr lang="zh-CN" altLang="en-US" sz="1600" b="0" dirty="0">
                <a:latin typeface="黑体" panose="02010609060101010101" charset="-122"/>
                <a:ea typeface="黑体" panose="02010609060101010101" charset="-122"/>
                <a:sym typeface="+mn-ea"/>
              </a:rPr>
              <a:t>为组合特征</a:t>
            </a:r>
            <a:r>
              <a:rPr lang="en-US" altLang="zh-CN" sz="1600" b="0" dirty="0">
                <a:solidFill>
                  <a:srgbClr val="FF0000"/>
                </a:solidFill>
                <a:latin typeface="黑体" panose="02010609060101010101" charset="-122"/>
                <a:ea typeface="黑体" panose="02010609060101010101" charset="-122"/>
                <a:sym typeface="+mn-ea"/>
              </a:rPr>
              <a:t> T4</a:t>
            </a:r>
            <a:endParaRPr lang="en-US" altLang="zh-CN" sz="1600" b="0" dirty="0">
              <a:latin typeface="黑体" panose="02010609060101010101" charset="-122"/>
              <a:ea typeface="黑体" panose="02010609060101010101" charset="-122"/>
              <a:sym typeface="+mn-ea"/>
            </a:endParaRPr>
          </a:p>
          <a:p>
            <a:pPr indent="406400" algn="l" fontAlgn="auto">
              <a:lnSpc>
                <a:spcPct val="150000"/>
              </a:lnSpc>
              <a:buNone/>
              <a:extLst>
                <a:ext uri="{35155182-B16C-46BC-9424-99874614C6A1}">
                  <wpsdc:indentchars xmlns="" xmlns:wpsdc="http://www.wps.cn/officeDocument/2017/drawingmlCustomData" val="200" checksum="1740828767"/>
                </a:ext>
              </a:extLst>
            </a:pPr>
            <a:r>
              <a:rPr lang="en-US" altLang="zh-CN" sz="1600" b="0" dirty="0">
                <a:latin typeface="黑体" panose="02010609060101010101" charset="-122"/>
                <a:ea typeface="黑体" panose="02010609060101010101" charset="-122"/>
                <a:sym typeface="+mn-ea"/>
              </a:rPr>
              <a:t>(5)</a:t>
            </a:r>
            <a:r>
              <a:rPr lang="zh-CN" altLang="en-US" sz="1600" b="0" dirty="0">
                <a:latin typeface="黑体" panose="02010609060101010101" charset="-122"/>
                <a:ea typeface="黑体" panose="02010609060101010101" charset="-122"/>
                <a:sym typeface="+mn-ea"/>
              </a:rPr>
              <a:t>选取功率谱全部特征和小波全部特征为组合特征 </a:t>
            </a:r>
            <a:r>
              <a:rPr lang="en-US" altLang="zh-CN" sz="1600" b="0" dirty="0">
                <a:solidFill>
                  <a:srgbClr val="FF0000"/>
                </a:solidFill>
                <a:latin typeface="黑体" panose="02010609060101010101" charset="-122"/>
                <a:ea typeface="黑体" panose="02010609060101010101" charset="-122"/>
                <a:sym typeface="+mn-ea"/>
              </a:rPr>
              <a:t>T5</a:t>
            </a:r>
            <a:endParaRPr lang="en-US" altLang="zh-CN" sz="1600" b="0" dirty="0">
              <a:latin typeface="黑体" panose="02010609060101010101" charset="-122"/>
              <a:ea typeface="黑体" panose="02010609060101010101" charset="-122"/>
              <a:sym typeface="+mn-ea"/>
            </a:endParaRPr>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23</a:t>
            </a:fld>
            <a:endParaRPr lang="zh-CN" altLang="en-US"/>
          </a:p>
        </p:txBody>
      </p:sp>
      <p:grpSp>
        <p:nvGrpSpPr>
          <p:cNvPr id="4" name="组合 3"/>
          <p:cNvGrpSpPr/>
          <p:nvPr/>
        </p:nvGrpSpPr>
        <p:grpSpPr>
          <a:xfrm>
            <a:off x="3810" y="356870"/>
            <a:ext cx="5117466" cy="460375"/>
            <a:chOff x="0" y="522689"/>
            <a:chExt cx="3607279" cy="508886"/>
          </a:xfrm>
          <a:solidFill>
            <a:srgbClr val="802358"/>
          </a:solidFill>
        </p:grpSpPr>
        <p:grpSp>
          <p:nvGrpSpPr>
            <p:cNvPr id="7" name="组合 6"/>
            <p:cNvGrpSpPr/>
            <p:nvPr/>
          </p:nvGrpSpPr>
          <p:grpSpPr>
            <a:xfrm>
              <a:off x="0" y="533201"/>
              <a:ext cx="3415702" cy="492760"/>
              <a:chOff x="0" y="278653"/>
              <a:chExt cx="3415702" cy="492760"/>
            </a:xfrm>
            <a:grpFill/>
          </p:grpSpPr>
          <p:sp>
            <p:nvSpPr>
              <p:cNvPr id="8" name="矩形 7"/>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1" name="直角三角形 10"/>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5"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a:solidFill>
                  <a:schemeClr val="bg1"/>
                </a:solidFill>
                <a:latin typeface="微软雅黑" panose="020B0503020204020204" pitchFamily="34" charset="-122"/>
                <a:ea typeface="微软雅黑" panose="020B0503020204020204" pitchFamily="34" charset="-122"/>
                <a:sym typeface="+mn-ea"/>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71475" y="817245"/>
            <a:ext cx="5732145" cy="507831"/>
          </a:xfrm>
          <a:prstGeom prst="rect">
            <a:avLst/>
          </a:prstGeom>
          <a:noFill/>
          <a:ln w="9525">
            <a:noFill/>
          </a:ln>
        </p:spPr>
        <p:txBody>
          <a:bodyPr wrap="square">
            <a:spAutoFit/>
          </a:bodyPr>
          <a:lstStyle/>
          <a:p>
            <a:pPr marL="285750" indent="-285750">
              <a:lnSpc>
                <a:spcPct val="150000"/>
              </a:lnSpc>
              <a:buFont typeface="Wingdings" panose="05000000000000000000" charset="0"/>
              <a:buChar char=""/>
            </a:pPr>
            <a:r>
              <a:rPr lang="zh-CN" altLang="zh-CN" dirty="0"/>
              <a:t>不同特征的</a:t>
            </a:r>
            <a:r>
              <a:rPr lang="en-US" altLang="zh-CN" dirty="0"/>
              <a:t>9</a:t>
            </a:r>
            <a:r>
              <a:rPr lang="zh-CN" altLang="zh-CN" dirty="0"/>
              <a:t>各部位肺音分类准确度柱形图</a:t>
            </a:r>
            <a:endParaRPr lang="zh-CN" altLang="zh-CN" sz="2000" b="0" dirty="0">
              <a:latin typeface="黑体" panose="02010609060101010101" charset="-122"/>
              <a:ea typeface="黑体" panose="02010609060101010101" charset="-122"/>
              <a:sym typeface="+mn-ea"/>
            </a:endParaRPr>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24</a:t>
            </a:fld>
            <a:endParaRPr lang="zh-CN" altLang="en-US"/>
          </a:p>
        </p:txBody>
      </p:sp>
      <p:grpSp>
        <p:nvGrpSpPr>
          <p:cNvPr id="3" name="组合 2"/>
          <p:cNvGrpSpPr/>
          <p:nvPr/>
        </p:nvGrpSpPr>
        <p:grpSpPr>
          <a:xfrm>
            <a:off x="3810" y="356870"/>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8" name="矩形 7"/>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5" name="直角三角形 14"/>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6"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a:solidFill>
                    <a:schemeClr val="bg1"/>
                  </a:solidFill>
                  <a:latin typeface="微软雅黑" panose="020B0503020204020204" pitchFamily="34" charset="-122"/>
                  <a:ea typeface="微软雅黑" panose="020B0503020204020204" pitchFamily="34" charset="-122"/>
                  <a:sym typeface="+mn-ea"/>
                </a:rPr>
                <a:t>肺</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音的特征提取</a:t>
              </a:r>
              <a:endParaRPr lang="zh-CN" altLang="en-US" sz="2400" dirty="0">
                <a:solidFill>
                  <a:schemeClr val="bg1"/>
                </a:solidFill>
                <a:latin typeface="微软雅黑" panose="020B0503020204020204" pitchFamily="34" charset="-122"/>
                <a:ea typeface="微软雅黑" panose="020B0503020204020204" pitchFamily="34" charset="-122"/>
                <a:sym typeface="+mn-ea"/>
              </a:endParaRPr>
            </a:p>
          </p:txBody>
        </p:sp>
      </p:grpSp>
      <p:pic>
        <p:nvPicPr>
          <p:cNvPr id="64515" name="图片 223" descr="图4.7 不同特征的9各部位肺音分类准确度柱形图"/>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568" y="1570673"/>
            <a:ext cx="6227762" cy="4212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568129"/>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71475" y="817245"/>
            <a:ext cx="4097655" cy="507831"/>
          </a:xfrm>
          <a:prstGeom prst="rect">
            <a:avLst/>
          </a:prstGeom>
          <a:noFill/>
          <a:ln w="9525">
            <a:noFill/>
          </a:ln>
        </p:spPr>
        <p:txBody>
          <a:bodyPr wrap="square">
            <a:spAutoFit/>
          </a:bodyPr>
          <a:lstStyle/>
          <a:p>
            <a:pPr marL="285750" indent="-285750">
              <a:lnSpc>
                <a:spcPct val="150000"/>
              </a:lnSpc>
              <a:buFont typeface="Wingdings" panose="05000000000000000000" charset="0"/>
              <a:buChar char=""/>
            </a:pPr>
            <a:r>
              <a:rPr lang="zh-CN" altLang="zh-CN" dirty="0"/>
              <a:t>基于</a:t>
            </a:r>
            <a:r>
              <a:rPr lang="en-US" altLang="zh-CN" dirty="0"/>
              <a:t>welch</a:t>
            </a:r>
            <a:r>
              <a:rPr lang="zh-CN" altLang="zh-CN" dirty="0"/>
              <a:t>的肺音特征分布</a:t>
            </a:r>
            <a:endParaRPr lang="zh-CN" altLang="zh-CN" sz="2000" b="0" dirty="0">
              <a:latin typeface="黑体" panose="02010609060101010101" charset="-122"/>
              <a:ea typeface="黑体" panose="02010609060101010101" charset="-122"/>
              <a:sym typeface="+mn-ea"/>
            </a:endParaRPr>
          </a:p>
        </p:txBody>
      </p:sp>
      <p:sp>
        <p:nvSpPr>
          <p:cNvPr id="6" name="灯片编号占位符 5"/>
          <p:cNvSpPr>
            <a:spLocks noGrp="1"/>
          </p:cNvSpPr>
          <p:nvPr>
            <p:ph type="sldNum" sz="quarter" idx="12"/>
          </p:nvPr>
        </p:nvSpPr>
        <p:spPr/>
        <p:txBody>
          <a:bodyPr/>
          <a:lstStyle/>
          <a:p>
            <a:fld id="{4A99A888-F0A6-497F-A203-744BF10280CF}" type="slidenum">
              <a:rPr lang="zh-CN" altLang="en-US" smtClean="0"/>
              <a:pPr/>
              <a:t>25</a:t>
            </a:fld>
            <a:endParaRPr lang="zh-CN" altLang="en-US"/>
          </a:p>
        </p:txBody>
      </p:sp>
      <p:grpSp>
        <p:nvGrpSpPr>
          <p:cNvPr id="3" name="组合 2"/>
          <p:cNvGrpSpPr/>
          <p:nvPr/>
        </p:nvGrpSpPr>
        <p:grpSpPr>
          <a:xfrm>
            <a:off x="3810" y="356870"/>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8" name="矩形 7"/>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5" name="直角三角形 14"/>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6"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a:solidFill>
                    <a:schemeClr val="bg1"/>
                  </a:solidFill>
                  <a:latin typeface="微软雅黑" panose="020B0503020204020204" pitchFamily="34" charset="-122"/>
                  <a:ea typeface="微软雅黑" panose="020B0503020204020204" pitchFamily="34" charset="-122"/>
                  <a:sym typeface="+mn-ea"/>
                </a:rPr>
                <a:t>肺</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音的特征提取</a:t>
              </a:r>
              <a:endParaRPr lang="zh-CN" altLang="en-US" sz="2400" dirty="0">
                <a:solidFill>
                  <a:schemeClr val="bg1"/>
                </a:solidFill>
                <a:latin typeface="微软雅黑" panose="020B0503020204020204" pitchFamily="34" charset="-122"/>
                <a:ea typeface="微软雅黑" panose="020B0503020204020204" pitchFamily="34" charset="-122"/>
                <a:sym typeface="+mn-ea"/>
              </a:endParaRPr>
            </a:p>
          </p:txBody>
        </p:sp>
      </p:grpSp>
      <p:pic>
        <p:nvPicPr>
          <p:cNvPr id="65538" name="图片 513" descr="图4.8 基于welch的肺音特征分布"/>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095" y="1649095"/>
            <a:ext cx="6843395" cy="4443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A99A888-F0A6-497F-A203-744BF10280CF}" type="slidenum">
              <a:rPr lang="zh-CN" altLang="en-US" smtClean="0"/>
              <a:pPr/>
              <a:t>26</a:t>
            </a:fld>
            <a:endParaRPr lang="zh-CN" altLang="en-US"/>
          </a:p>
        </p:txBody>
      </p:sp>
      <p:sp>
        <p:nvSpPr>
          <p:cNvPr id="7" name="文本框 6"/>
          <p:cNvSpPr txBox="1"/>
          <p:nvPr/>
        </p:nvSpPr>
        <p:spPr>
          <a:xfrm>
            <a:off x="267970" y="1309370"/>
            <a:ext cx="7917180" cy="3877985"/>
          </a:xfrm>
          <a:prstGeom prst="rect">
            <a:avLst/>
          </a:prstGeom>
          <a:noFill/>
          <a:ln w="9525">
            <a:noFill/>
          </a:ln>
        </p:spPr>
        <p:txBody>
          <a:bodyPr wrap="square">
            <a:spAutoFit/>
          </a:bodyPr>
          <a:lstStyle/>
          <a:p>
            <a:pPr marL="285750" indent="-285750">
              <a:lnSpc>
                <a:spcPct val="150000"/>
              </a:lnSpc>
              <a:buFont typeface="Wingdings" panose="05000000000000000000" charset="0"/>
              <a:buChar char=""/>
            </a:pPr>
            <a:r>
              <a:rPr lang="zh-CN" altLang="en-US" sz="2000" dirty="0">
                <a:latin typeface="黑体" panose="02010609060101010101" charset="-122"/>
                <a:ea typeface="黑体" panose="02010609060101010101" charset="-122"/>
                <a:sym typeface="+mn-ea"/>
              </a:rPr>
              <a:t>实验分析</a:t>
            </a:r>
          </a:p>
          <a:p>
            <a:pPr marL="285750" indent="-285750">
              <a:lnSpc>
                <a:spcPct val="150000"/>
              </a:lnSpc>
              <a:buFont typeface="Arial" panose="020B0604020202020204" pitchFamily="34" charset="0"/>
              <a:buChar char="•"/>
            </a:pPr>
            <a:endParaRPr lang="en-US" altLang="zh-CN" sz="1600" b="0" dirty="0" smtClean="0">
              <a:latin typeface="黑体" panose="02010609060101010101" charset="-122"/>
              <a:ea typeface="黑体" panose="02010609060101010101" charset="-122"/>
              <a:sym typeface="+mn-ea"/>
            </a:endParaRPr>
          </a:p>
          <a:p>
            <a:pPr marL="285750" indent="-285750">
              <a:lnSpc>
                <a:spcPct val="150000"/>
              </a:lnSpc>
              <a:buFont typeface="Arial" panose="020B0604020202020204" pitchFamily="34" charset="0"/>
              <a:buChar char="•"/>
            </a:pPr>
            <a:r>
              <a:rPr lang="zh-CN" altLang="zh-CN" sz="1600" b="0" dirty="0" smtClean="0">
                <a:latin typeface="黑体" panose="02010609060101010101" charset="-122"/>
                <a:ea typeface="黑体" panose="02010609060101010101" charset="-122"/>
                <a:sym typeface="+mn-ea"/>
              </a:rPr>
              <a:t>选取</a:t>
            </a:r>
            <a:r>
              <a:rPr lang="zh-CN" altLang="zh-CN" sz="1600" b="0" dirty="0">
                <a:latin typeface="黑体" panose="02010609060101010101" charset="-122"/>
                <a:ea typeface="黑体" panose="02010609060101010101" charset="-122"/>
                <a:sym typeface="+mn-ea"/>
              </a:rPr>
              <a:t>不同特征向量在肺音分类上也有不同的效果。其中分类准确度最高的两种特征向量分别为</a:t>
            </a:r>
            <a:r>
              <a:rPr lang="zh-CN" altLang="zh-CN" sz="1600" b="0" dirty="0">
                <a:solidFill>
                  <a:srgbClr val="FF0000"/>
                </a:solidFill>
                <a:latin typeface="黑体" panose="02010609060101010101" charset="-122"/>
                <a:ea typeface="黑体" panose="02010609060101010101" charset="-122"/>
                <a:sym typeface="+mn-ea"/>
              </a:rPr>
              <a:t>T2</a:t>
            </a:r>
            <a:r>
              <a:rPr lang="zh-CN" altLang="zh-CN" sz="1600" b="0" dirty="0">
                <a:latin typeface="黑体" panose="02010609060101010101" charset="-122"/>
                <a:ea typeface="黑体" panose="02010609060101010101" charset="-122"/>
                <a:sym typeface="+mn-ea"/>
              </a:rPr>
              <a:t>和</a:t>
            </a:r>
            <a:r>
              <a:rPr lang="zh-CN" altLang="zh-CN" sz="1600" b="0" dirty="0">
                <a:solidFill>
                  <a:srgbClr val="FF0000"/>
                </a:solidFill>
                <a:latin typeface="黑体" panose="02010609060101010101" charset="-122"/>
                <a:ea typeface="黑体" panose="02010609060101010101" charset="-122"/>
                <a:sym typeface="+mn-ea"/>
              </a:rPr>
              <a:t>T5</a:t>
            </a:r>
            <a:r>
              <a:rPr lang="zh-CN" altLang="zh-CN" sz="1600" b="0" dirty="0">
                <a:latin typeface="黑体" panose="02010609060101010101" charset="-122"/>
                <a:ea typeface="黑体" panose="02010609060101010101" charset="-122"/>
                <a:sym typeface="+mn-ea"/>
              </a:rPr>
              <a:t>，各具有4个部位的最高准确率。T2为基于Welch功率谱方法提取特征，特征向量维数是14，T5为组合Welch方法和小波分解方法提取特征，特征向量维数是37。</a:t>
            </a:r>
          </a:p>
          <a:p>
            <a:pPr marL="285750" indent="-285750">
              <a:lnSpc>
                <a:spcPct val="150000"/>
              </a:lnSpc>
              <a:buFont typeface="Arial" panose="020B0604020202020204" pitchFamily="34" charset="0"/>
              <a:buChar char="•"/>
            </a:pPr>
            <a:endParaRPr lang="zh-CN" altLang="zh-CN" sz="1600" b="0" dirty="0">
              <a:latin typeface="黑体" panose="02010609060101010101" charset="-122"/>
              <a:ea typeface="黑体" panose="02010609060101010101" charset="-122"/>
              <a:sym typeface="+mn-ea"/>
            </a:endParaRPr>
          </a:p>
          <a:p>
            <a:pPr marL="285750" indent="-285750">
              <a:lnSpc>
                <a:spcPct val="150000"/>
              </a:lnSpc>
              <a:buFont typeface="Arial" panose="020B0604020202020204" pitchFamily="34" charset="0"/>
              <a:buChar char="•"/>
            </a:pPr>
            <a:endParaRPr lang="en-US" altLang="zh-CN" sz="1600" b="0" dirty="0" smtClean="0">
              <a:latin typeface="黑体" panose="02010609060101010101" charset="-122"/>
              <a:ea typeface="黑体" panose="02010609060101010101" charset="-122"/>
              <a:sym typeface="+mn-ea"/>
            </a:endParaRPr>
          </a:p>
          <a:p>
            <a:pPr marL="285750" indent="-285750">
              <a:lnSpc>
                <a:spcPct val="150000"/>
              </a:lnSpc>
              <a:buFont typeface="Arial" panose="020B0604020202020204" pitchFamily="34" charset="0"/>
              <a:buChar char="•"/>
            </a:pPr>
            <a:r>
              <a:rPr lang="zh-CN" altLang="zh-CN" sz="1600" b="0" dirty="0" smtClean="0">
                <a:latin typeface="黑体" panose="02010609060101010101" charset="-122"/>
                <a:ea typeface="黑体" panose="02010609060101010101" charset="-122"/>
                <a:sym typeface="+mn-ea"/>
              </a:rPr>
              <a:t>综合</a:t>
            </a:r>
            <a:r>
              <a:rPr lang="zh-CN" altLang="zh-CN" sz="1600" b="0" dirty="0">
                <a:latin typeface="黑体" panose="02010609060101010101" charset="-122"/>
                <a:ea typeface="黑体" panose="02010609060101010101" charset="-122"/>
                <a:sym typeface="+mn-ea"/>
              </a:rPr>
              <a:t>考虑分类效果和分类算法计算量和运行时间</a:t>
            </a:r>
            <a:r>
              <a:rPr lang="zh-CN" altLang="zh-CN" sz="1600" b="0" dirty="0" smtClean="0">
                <a:latin typeface="黑体" panose="02010609060101010101" charset="-122"/>
                <a:ea typeface="黑体" panose="02010609060101010101" charset="-122"/>
                <a:sym typeface="+mn-ea"/>
              </a:rPr>
              <a:t>，选择</a:t>
            </a:r>
            <a:r>
              <a:rPr lang="zh-CN" altLang="zh-CN" sz="1600" b="0" dirty="0">
                <a:latin typeface="黑体" panose="02010609060101010101" charset="-122"/>
                <a:ea typeface="黑体" panose="02010609060101010101" charset="-122"/>
                <a:sym typeface="+mn-ea"/>
              </a:rPr>
              <a:t>维数更低的Welch功率谱方式提取肺音特征。</a:t>
            </a:r>
          </a:p>
        </p:txBody>
      </p:sp>
      <p:grpSp>
        <p:nvGrpSpPr>
          <p:cNvPr id="3" name="组合 2"/>
          <p:cNvGrpSpPr/>
          <p:nvPr/>
        </p:nvGrpSpPr>
        <p:grpSpPr>
          <a:xfrm>
            <a:off x="3810" y="356870"/>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8" name="矩形 7"/>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5" name="直角三角形 14"/>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6"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4 </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肺音的特征提取</a:t>
              </a:r>
              <a:endParaRPr lang="zh-CN" altLang="en-US" sz="2400" dirty="0">
                <a:solidFill>
                  <a:schemeClr val="bg1"/>
                </a:solidFill>
                <a:latin typeface="微软雅黑" panose="020B0503020204020204" pitchFamily="34" charset="-122"/>
                <a:ea typeface="微软雅黑" panose="020B0503020204020204" pitchFamily="34" charset="-122"/>
                <a:sym typeface="+mn-ea"/>
              </a:endParaRPr>
            </a:p>
          </p:txBody>
        </p:sp>
      </p:grpSp>
    </p:spTree>
    <p:extLst>
      <p:ext uri="{BB962C8B-B14F-4D97-AF65-F5344CB8AC3E}">
        <p14:creationId xmlns:p14="http://schemas.microsoft.com/office/powerpoint/2010/main" val="180019478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A99A888-F0A6-497F-A203-744BF10280CF}" type="slidenum">
              <a:rPr lang="zh-CN" altLang="en-US" sz="900" smtClean="0">
                <a:latin typeface="黑体" panose="02010609060101010101" charset="-122"/>
                <a:ea typeface="黑体" panose="02010609060101010101" charset="-122"/>
              </a:rPr>
              <a:pPr/>
              <a:t>27</a:t>
            </a:fld>
            <a:endParaRPr lang="zh-CN" altLang="en-US" sz="900" smtClean="0">
              <a:latin typeface="黑体" panose="02010609060101010101" charset="-122"/>
              <a:ea typeface="黑体" panose="02010609060101010101" charset="-122"/>
            </a:endParaRPr>
          </a:p>
        </p:txBody>
      </p:sp>
      <p:grpSp>
        <p:nvGrpSpPr>
          <p:cNvPr id="43" name="组合 42"/>
          <p:cNvGrpSpPr/>
          <p:nvPr/>
        </p:nvGrpSpPr>
        <p:grpSpPr>
          <a:xfrm>
            <a:off x="1920240" y="1386840"/>
            <a:ext cx="6087110" cy="617855"/>
            <a:chOff x="1098018" y="1340446"/>
            <a:chExt cx="6947964" cy="737210"/>
          </a:xfrm>
        </p:grpSpPr>
        <p:sp>
          <p:nvSpPr>
            <p:cNvPr id="44" name="任意多边形 43"/>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kern="1200" dirty="0" smtClean="0">
                  <a:solidFill>
                    <a:schemeClr val="tx1"/>
                  </a:solidFill>
                  <a:latin typeface="黑体" panose="02010609060101010101" charset="-122"/>
                  <a:ea typeface="黑体" panose="02010609060101010101" charset="-122"/>
                </a:rPr>
                <a:t>原始数据集</a:t>
              </a:r>
              <a:endParaRPr lang="zh-CN" altLang="en-US" kern="1200" dirty="0" smtClean="0">
                <a:solidFill>
                  <a:schemeClr val="tx1"/>
                </a:solidFill>
                <a:latin typeface="黑体" panose="02010609060101010101" charset="-122"/>
                <a:ea typeface="黑体" panose="02010609060101010101" charset="-122"/>
              </a:endParaRPr>
            </a:p>
          </p:txBody>
        </p:sp>
        <p:sp>
          <p:nvSpPr>
            <p:cNvPr id="45" name="任意多边形 44"/>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1</a:t>
              </a:r>
              <a:endParaRPr lang="en-US" altLang="zh-CN" sz="3200" kern="1200" dirty="0" smtClean="0">
                <a:latin typeface="黑体" panose="02010609060101010101" charset="-122"/>
                <a:ea typeface="黑体" panose="02010609060101010101" charset="-122"/>
              </a:endParaRPr>
            </a:p>
          </p:txBody>
        </p:sp>
      </p:grpSp>
      <p:grpSp>
        <p:nvGrpSpPr>
          <p:cNvPr id="46" name="组合 45"/>
          <p:cNvGrpSpPr/>
          <p:nvPr/>
        </p:nvGrpSpPr>
        <p:grpSpPr>
          <a:xfrm>
            <a:off x="1920240" y="2131060"/>
            <a:ext cx="6087110" cy="617855"/>
            <a:chOff x="1098018" y="2124042"/>
            <a:chExt cx="6947964" cy="737210"/>
          </a:xfrm>
          <a:solidFill>
            <a:srgbClr val="802358">
              <a:alpha val="10000"/>
            </a:srgbClr>
          </a:solidFill>
        </p:grpSpPr>
        <p:sp>
          <p:nvSpPr>
            <p:cNvPr id="47" name="任意多边形 46"/>
            <p:cNvSpPr/>
            <p:nvPr/>
          </p:nvSpPr>
          <p:spPr>
            <a:xfrm>
              <a:off x="2699790" y="2188239"/>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grp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dirty="0" smtClean="0">
                  <a:solidFill>
                    <a:schemeClr val="tx1"/>
                  </a:solidFill>
                  <a:latin typeface="黑体" panose="02010609060101010101" charset="-122"/>
                  <a:ea typeface="黑体" panose="02010609060101010101" charset="-122"/>
                </a:rPr>
                <a:t>实验数据集</a:t>
              </a:r>
              <a:endParaRPr lang="zh-CN" dirty="0" smtClean="0">
                <a:solidFill>
                  <a:schemeClr val="tx1"/>
                </a:solidFill>
                <a:latin typeface="黑体" panose="02010609060101010101" charset="-122"/>
                <a:ea typeface="黑体" panose="02010609060101010101" charset="-122"/>
              </a:endParaRPr>
            </a:p>
          </p:txBody>
        </p:sp>
        <p:sp>
          <p:nvSpPr>
            <p:cNvPr id="48" name="任意多边形 47"/>
            <p:cNvSpPr/>
            <p:nvPr/>
          </p:nvSpPr>
          <p:spPr>
            <a:xfrm>
              <a:off x="1098018" y="2124042"/>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2</a:t>
              </a:r>
              <a:endParaRPr lang="en-US" altLang="zh-CN" sz="3200" kern="1200" dirty="0" smtClean="0">
                <a:latin typeface="黑体" panose="02010609060101010101" charset="-122"/>
                <a:ea typeface="黑体" panose="02010609060101010101" charset="-122"/>
              </a:endParaRPr>
            </a:p>
          </p:txBody>
        </p:sp>
      </p:grpSp>
      <p:grpSp>
        <p:nvGrpSpPr>
          <p:cNvPr id="49" name="组合 48"/>
          <p:cNvGrpSpPr/>
          <p:nvPr/>
        </p:nvGrpSpPr>
        <p:grpSpPr>
          <a:xfrm>
            <a:off x="1920240" y="2860040"/>
            <a:ext cx="6087110" cy="617855"/>
            <a:chOff x="1098018" y="2888588"/>
            <a:chExt cx="6947964" cy="737210"/>
          </a:xfrm>
        </p:grpSpPr>
        <p:sp>
          <p:nvSpPr>
            <p:cNvPr id="50" name="任意多边形 49"/>
            <p:cNvSpPr/>
            <p:nvPr/>
          </p:nvSpPr>
          <p:spPr>
            <a:xfrm>
              <a:off x="2699790" y="296231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0" lvl="1" indent="-171450" algn="l" defTabSz="711200">
                <a:lnSpc>
                  <a:spcPct val="90000"/>
                </a:lnSpc>
                <a:spcAft>
                  <a:spcPct val="15000"/>
                </a:spcAft>
                <a:buChar char="•"/>
              </a:pPr>
              <a:r>
                <a:rPr dirty="0" err="1" smtClean="0">
                  <a:solidFill>
                    <a:schemeClr val="tx1"/>
                  </a:solidFill>
                  <a:latin typeface="黑体" panose="02010609060101010101" charset="-122"/>
                  <a:ea typeface="黑体" panose="02010609060101010101" charset="-122"/>
                </a:rPr>
                <a:t>肺音的</a:t>
              </a:r>
              <a:r>
                <a:rPr lang="zh-CN" altLang="en-US" dirty="0" smtClean="0">
                  <a:solidFill>
                    <a:schemeClr val="tx1"/>
                  </a:solidFill>
                  <a:latin typeface="黑体" panose="02010609060101010101" charset="-122"/>
                  <a:ea typeface="黑体" panose="02010609060101010101" charset="-122"/>
                  <a:sym typeface="+mn-ea"/>
                </a:rPr>
                <a:t>医学特性</a:t>
              </a:r>
              <a:endParaRPr dirty="0" smtClean="0">
                <a:solidFill>
                  <a:schemeClr val="tx1"/>
                </a:solidFill>
                <a:latin typeface="黑体" panose="02010609060101010101" charset="-122"/>
                <a:ea typeface="黑体" panose="02010609060101010101" charset="-122"/>
              </a:endParaRPr>
            </a:p>
          </p:txBody>
        </p:sp>
        <p:sp>
          <p:nvSpPr>
            <p:cNvPr id="51" name="任意多边形 50"/>
            <p:cNvSpPr/>
            <p:nvPr/>
          </p:nvSpPr>
          <p:spPr>
            <a:xfrm>
              <a:off x="1098018" y="2888588"/>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3</a:t>
              </a:r>
              <a:endParaRPr lang="en-US" altLang="zh-CN" sz="3200" kern="1200" dirty="0" smtClean="0">
                <a:latin typeface="黑体" panose="02010609060101010101" charset="-122"/>
                <a:ea typeface="黑体" panose="02010609060101010101" charset="-122"/>
              </a:endParaRPr>
            </a:p>
          </p:txBody>
        </p:sp>
      </p:grpSp>
      <p:grpSp>
        <p:nvGrpSpPr>
          <p:cNvPr id="52" name="组合 51"/>
          <p:cNvGrpSpPr/>
          <p:nvPr/>
        </p:nvGrpSpPr>
        <p:grpSpPr>
          <a:xfrm>
            <a:off x="1920240" y="3596640"/>
            <a:ext cx="6087110" cy="617855"/>
            <a:chOff x="1098018" y="3662660"/>
            <a:chExt cx="6947964" cy="737210"/>
          </a:xfrm>
        </p:grpSpPr>
        <p:sp>
          <p:nvSpPr>
            <p:cNvPr id="53" name="任意多边形 52"/>
            <p:cNvSpPr/>
            <p:nvPr/>
          </p:nvSpPr>
          <p:spPr>
            <a:xfrm>
              <a:off x="2699790" y="3736381"/>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0" lvl="1" indent="-171450" defTabSz="711200">
                <a:lnSpc>
                  <a:spcPct val="90000"/>
                </a:lnSpc>
                <a:spcBef>
                  <a:spcPct val="0"/>
                </a:spcBef>
                <a:spcAft>
                  <a:spcPct val="15000"/>
                </a:spcAft>
                <a:buChar char="•"/>
              </a:pPr>
              <a:r>
                <a:rPr dirty="0">
                  <a:solidFill>
                    <a:schemeClr val="tx1"/>
                  </a:solidFill>
                  <a:latin typeface="黑体" panose="02010609060101010101" charset="-122"/>
                  <a:ea typeface="黑体" panose="02010609060101010101" charset="-122"/>
                  <a:sym typeface="+mn-ea"/>
                </a:rPr>
                <a:t>肺音的特征提取</a:t>
              </a:r>
              <a:endParaRPr lang="zh-CN" altLang="en-US" dirty="0">
                <a:solidFill>
                  <a:schemeClr val="tx1"/>
                </a:solidFill>
                <a:latin typeface="黑体" panose="02010609060101010101" charset="-122"/>
                <a:ea typeface="黑体" panose="02010609060101010101" charset="-122"/>
                <a:sym typeface="+mn-ea"/>
              </a:endParaRPr>
            </a:p>
          </p:txBody>
        </p:sp>
        <p:sp>
          <p:nvSpPr>
            <p:cNvPr id="54" name="任意多边形 53"/>
            <p:cNvSpPr/>
            <p:nvPr/>
          </p:nvSpPr>
          <p:spPr>
            <a:xfrm>
              <a:off x="1098018" y="3662660"/>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4</a:t>
              </a:r>
              <a:endParaRPr lang="en-US" altLang="zh-CN" sz="3200" kern="1200" dirty="0" smtClean="0">
                <a:latin typeface="黑体" panose="02010609060101010101" charset="-122"/>
                <a:ea typeface="黑体" panose="02010609060101010101" charset="-122"/>
              </a:endParaRPr>
            </a:p>
          </p:txBody>
        </p:sp>
      </p:grpSp>
      <p:grpSp>
        <p:nvGrpSpPr>
          <p:cNvPr id="55" name="组合 54"/>
          <p:cNvGrpSpPr/>
          <p:nvPr/>
        </p:nvGrpSpPr>
        <p:grpSpPr>
          <a:xfrm>
            <a:off x="1920240" y="4332605"/>
            <a:ext cx="6087110" cy="617855"/>
            <a:chOff x="1098018" y="4436731"/>
            <a:chExt cx="6947964" cy="737210"/>
          </a:xfrm>
        </p:grpSpPr>
        <p:sp>
          <p:nvSpPr>
            <p:cNvPr id="56" name="任意多边形 55"/>
            <p:cNvSpPr/>
            <p:nvPr/>
          </p:nvSpPr>
          <p:spPr>
            <a:xfrm>
              <a:off x="2699790" y="4510453"/>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rgbClr val="802358">
                <a:alpha val="10000"/>
              </a:srgb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5737" tIns="114461" rIns="207330" bIns="114461" numCol="1" spcCol="1270" anchor="ctr" anchorCtr="0">
              <a:noAutofit/>
            </a:bodyPr>
            <a:lstStyle/>
            <a:p>
              <a:pPr marL="171450" lvl="1" indent="-171450" defTabSz="711200">
                <a:lnSpc>
                  <a:spcPct val="90000"/>
                </a:lnSpc>
                <a:spcBef>
                  <a:spcPct val="0"/>
                </a:spcBef>
                <a:spcAft>
                  <a:spcPct val="15000"/>
                </a:spcAft>
                <a:buChar char="•"/>
              </a:pPr>
              <a:r>
                <a:rPr lang="zh-CN" altLang="en-US" b="1" dirty="0">
                  <a:solidFill>
                    <a:srgbClr val="FF0000"/>
                  </a:solidFill>
                  <a:latin typeface="黑体" panose="02010609060101010101" charset="-122"/>
                  <a:ea typeface="黑体" panose="02010609060101010101" charset="-122"/>
                  <a:sym typeface="+mn-ea"/>
                </a:rPr>
                <a:t>肺音分类的相关方法</a:t>
              </a:r>
            </a:p>
          </p:txBody>
        </p:sp>
        <p:sp>
          <p:nvSpPr>
            <p:cNvPr id="57" name="任意多边形 56"/>
            <p:cNvSpPr/>
            <p:nvPr/>
          </p:nvSpPr>
          <p:spPr>
            <a:xfrm>
              <a:off x="1098018" y="4436731"/>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802358"/>
            </a:solidFill>
            <a:ln>
              <a:solidFill>
                <a:srgbClr val="802358"/>
              </a:solid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32718" tIns="79854" rIns="132718" bIns="79854" numCol="1" spcCol="1270" anchor="ctr" anchorCtr="0">
              <a:noAutofit/>
            </a:bodyPr>
            <a:lstStyle/>
            <a:p>
              <a:pPr lvl="0" algn="ctr" defTabSz="1644650">
                <a:lnSpc>
                  <a:spcPct val="90000"/>
                </a:lnSpc>
                <a:spcBef>
                  <a:spcPct val="0"/>
                </a:spcBef>
                <a:spcAft>
                  <a:spcPct val="35000"/>
                </a:spcAft>
              </a:pPr>
              <a:r>
                <a:rPr lang="en-US" altLang="zh-CN" sz="3200" kern="1200" smtClean="0">
                  <a:latin typeface="黑体" panose="02010609060101010101" charset="-122"/>
                  <a:ea typeface="黑体" panose="02010609060101010101" charset="-122"/>
                </a:rPr>
                <a:t>5</a:t>
              </a:r>
              <a:endParaRPr lang="en-US" altLang="zh-CN" sz="3200" kern="1200" dirty="0" smtClean="0">
                <a:latin typeface="黑体" panose="02010609060101010101" charset="-122"/>
                <a:ea typeface="黑体" panose="02010609060101010101" charset="-122"/>
              </a:endParaRPr>
            </a:p>
          </p:txBody>
        </p:sp>
      </p:grpSp>
      <p:pic>
        <p:nvPicPr>
          <p:cNvPr id="16396" name="图片 1"/>
          <p:cNvPicPr>
            <a:picLocks noChangeAspect="1"/>
          </p:cNvPicPr>
          <p:nvPr/>
        </p:nvPicPr>
        <p:blipFill>
          <a:blip r:embed="rId3" cstate="print"/>
          <a:stretch>
            <a:fillRect/>
          </a:stretch>
        </p:blipFill>
        <p:spPr>
          <a:xfrm>
            <a:off x="898862" y="4411979"/>
            <a:ext cx="639445" cy="459105"/>
          </a:xfrm>
          <a:prstGeom prst="rect">
            <a:avLst/>
          </a:prstGeom>
          <a:noFill/>
          <a:ln w="9525">
            <a:noFill/>
          </a:ln>
        </p:spPr>
      </p:pic>
      <p:grpSp>
        <p:nvGrpSpPr>
          <p:cNvPr id="3" name="组合 2"/>
          <p:cNvGrpSpPr/>
          <p:nvPr/>
        </p:nvGrpSpPr>
        <p:grpSpPr>
          <a:xfrm>
            <a:off x="3810" y="356869"/>
            <a:ext cx="2741295" cy="460375"/>
            <a:chOff x="0" y="522689"/>
            <a:chExt cx="3422416" cy="508886"/>
          </a:xfrm>
          <a:solidFill>
            <a:srgbClr val="802358"/>
          </a:solidFill>
        </p:grpSpPr>
        <p:grpSp>
          <p:nvGrpSpPr>
            <p:cNvPr id="9" name="组合 8"/>
            <p:cNvGrpSpPr/>
            <p:nvPr/>
          </p:nvGrpSpPr>
          <p:grpSpPr>
            <a:xfrm>
              <a:off x="0" y="533201"/>
              <a:ext cx="3422416" cy="492760"/>
              <a:chOff x="0" y="278653"/>
              <a:chExt cx="3422416" cy="492760"/>
            </a:xfrm>
            <a:grpFill/>
          </p:grpSpPr>
          <p:sp>
            <p:nvSpPr>
              <p:cNvPr id="13" name="矩形 12"/>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4" name="直角三角形 13"/>
              <p:cNvSpPr/>
              <p:nvPr/>
            </p:nvSpPr>
            <p:spPr>
              <a:xfrm>
                <a:off x="3083571"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5" name="文本框 3"/>
            <p:cNvSpPr txBox="1"/>
            <p:nvPr/>
          </p:nvSpPr>
          <p:spPr>
            <a:xfrm>
              <a:off x="283021" y="522689"/>
              <a:ext cx="278106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zh-CN" altLang="en-US" sz="2400" dirty="0" smtClean="0">
                  <a:solidFill>
                    <a:schemeClr val="bg1"/>
                  </a:solidFill>
                  <a:latin typeface="黑体" panose="02010609060101010101" charset="-122"/>
                  <a:ea typeface="黑体" panose="02010609060101010101" charset="-122"/>
                </a:rPr>
                <a:t>目   录</a:t>
              </a:r>
            </a:p>
          </p:txBody>
        </p:sp>
      </p:grpSp>
    </p:spTree>
    <p:extLst>
      <p:ext uri="{BB962C8B-B14F-4D97-AF65-F5344CB8AC3E}">
        <p14:creationId xmlns:p14="http://schemas.microsoft.com/office/powerpoint/2010/main" val="3340584595"/>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A99A888-F0A6-497F-A203-744BF10280CF}" type="slidenum">
              <a:rPr lang="zh-CN" altLang="en-US" smtClean="0"/>
              <a:pPr/>
              <a:t>28</a:t>
            </a:fld>
            <a:endParaRPr lang="zh-CN" altLang="en-US"/>
          </a:p>
        </p:txBody>
      </p:sp>
      <p:grpSp>
        <p:nvGrpSpPr>
          <p:cNvPr id="3" name="组合 2"/>
          <p:cNvGrpSpPr/>
          <p:nvPr/>
        </p:nvGrpSpPr>
        <p:grpSpPr>
          <a:xfrm>
            <a:off x="3810" y="356870"/>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8" name="矩形 7"/>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5" name="直角三角形 14"/>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6"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5 </a:t>
              </a:r>
              <a:r>
                <a:rPr lang="zh-CN" altLang="en-US" sz="2400" dirty="0">
                  <a:solidFill>
                    <a:schemeClr val="bg1"/>
                  </a:solidFill>
                  <a:latin typeface="微软雅黑" panose="020B0503020204020204" pitchFamily="34" charset="-122"/>
                  <a:ea typeface="微软雅黑" panose="020B0503020204020204" pitchFamily="34" charset="-122"/>
                  <a:sym typeface="+mn-ea"/>
                </a:rPr>
                <a:t>肺</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音分类的相关方法</a:t>
              </a:r>
              <a:endParaRPr lang="zh-CN" altLang="en-US" sz="2400" dirty="0">
                <a:solidFill>
                  <a:schemeClr val="bg1"/>
                </a:solidFill>
                <a:latin typeface="微软雅黑" panose="020B0503020204020204" pitchFamily="34" charset="-122"/>
                <a:ea typeface="微软雅黑" panose="020B0503020204020204" pitchFamily="34" charset="-122"/>
                <a:sym typeface="+mn-ea"/>
              </a:endParaRPr>
            </a:p>
          </p:txBody>
        </p:sp>
      </p:grpSp>
      <p:sp>
        <p:nvSpPr>
          <p:cNvPr id="11" name="文本框 10"/>
          <p:cNvSpPr txBox="1"/>
          <p:nvPr/>
        </p:nvSpPr>
        <p:spPr>
          <a:xfrm>
            <a:off x="405130" y="1263015"/>
            <a:ext cx="7767320" cy="5216813"/>
          </a:xfrm>
          <a:prstGeom prst="rect">
            <a:avLst/>
          </a:prstGeom>
          <a:noFill/>
          <a:ln w="9525">
            <a:noFill/>
          </a:ln>
        </p:spPr>
        <p:txBody>
          <a:bodyPr wrap="square">
            <a:spAutoFit/>
          </a:bodyPr>
          <a:lstStyle/>
          <a:p>
            <a:pPr>
              <a:lnSpc>
                <a:spcPct val="150000"/>
              </a:lnSpc>
            </a:pPr>
            <a:r>
              <a:rPr lang="zh-CN" altLang="en-US" dirty="0" smtClean="0"/>
              <a:t>相关方法介绍：</a:t>
            </a:r>
            <a:endParaRPr lang="en-US" altLang="zh-CN" dirty="0" smtClean="0"/>
          </a:p>
          <a:p>
            <a:pPr marL="285750" indent="-285750">
              <a:lnSpc>
                <a:spcPct val="150000"/>
              </a:lnSpc>
              <a:buFont typeface="Wingdings" panose="05000000000000000000" charset="0"/>
              <a:buChar char=""/>
            </a:pPr>
            <a:r>
              <a:rPr lang="en-US" altLang="zh-CN" sz="2400" dirty="0" smtClean="0">
                <a:latin typeface="黑体" panose="02010609060101010101" charset="-122"/>
                <a:ea typeface="黑体" panose="02010609060101010101" charset="-122"/>
              </a:rPr>
              <a:t>VQ</a:t>
            </a:r>
            <a:r>
              <a:rPr lang="zh-CN" altLang="en-US" sz="2400" dirty="0" smtClean="0">
                <a:latin typeface="黑体" panose="02010609060101010101" charset="-122"/>
                <a:ea typeface="黑体" panose="02010609060101010101" charset="-122"/>
              </a:rPr>
              <a:t>：</a:t>
            </a:r>
            <a:r>
              <a:rPr lang="zh-CN" altLang="en-US" sz="2400" dirty="0">
                <a:latin typeface="黑体" panose="02010609060101010101" charset="-122"/>
                <a:ea typeface="黑体" panose="02010609060101010101" charset="-122"/>
              </a:rPr>
              <a:t>矢量量化（</a:t>
            </a:r>
            <a:r>
              <a:rPr lang="en-US" altLang="zh-CN" sz="2400" dirty="0">
                <a:latin typeface="黑体" panose="02010609060101010101" charset="-122"/>
                <a:ea typeface="黑体" panose="02010609060101010101" charset="-122"/>
              </a:rPr>
              <a:t>Vector Quantization</a:t>
            </a:r>
            <a:r>
              <a:rPr lang="zh-CN" altLang="en-US" sz="2400" dirty="0">
                <a:latin typeface="黑体" panose="02010609060101010101" charset="-122"/>
                <a:ea typeface="黑体" panose="02010609060101010101" charset="-122"/>
              </a:rPr>
              <a:t>）</a:t>
            </a:r>
            <a:r>
              <a:rPr lang="en-US" altLang="zh-CN" sz="2400" dirty="0">
                <a:latin typeface="黑体" panose="02010609060101010101" charset="-122"/>
                <a:ea typeface="黑体" panose="02010609060101010101" charset="-122"/>
              </a:rPr>
              <a:t> </a:t>
            </a:r>
          </a:p>
          <a:p>
            <a:pPr marL="285750" indent="-285750">
              <a:lnSpc>
                <a:spcPct val="150000"/>
              </a:lnSpc>
              <a:buFont typeface="Wingdings" panose="05000000000000000000" charset="0"/>
              <a:buChar char=""/>
            </a:pPr>
            <a:r>
              <a:rPr lang="en-US" altLang="zh-CN" sz="2400" dirty="0" smtClean="0">
                <a:latin typeface="黑体" panose="02010609060101010101" charset="-122"/>
                <a:ea typeface="黑体" panose="02010609060101010101" charset="-122"/>
              </a:rPr>
              <a:t>ANN</a:t>
            </a:r>
            <a:r>
              <a:rPr lang="zh-CN" altLang="en-US" sz="2400" dirty="0" smtClean="0">
                <a:latin typeface="黑体" panose="02010609060101010101" charset="-122"/>
                <a:ea typeface="黑体" panose="02010609060101010101" charset="-122"/>
              </a:rPr>
              <a:t>：</a:t>
            </a:r>
            <a:r>
              <a:rPr lang="zh-CN" altLang="en-US" sz="2400" dirty="0">
                <a:latin typeface="黑体" panose="02010609060101010101" charset="-122"/>
                <a:ea typeface="黑体" panose="02010609060101010101" charset="-122"/>
              </a:rPr>
              <a:t>人工神经网络（</a:t>
            </a:r>
            <a:r>
              <a:rPr lang="en-US" altLang="zh-CN" sz="2400" dirty="0">
                <a:latin typeface="黑体" panose="02010609060101010101" charset="-122"/>
                <a:ea typeface="黑体" panose="02010609060101010101" charset="-122"/>
              </a:rPr>
              <a:t>Artificial Neural Network</a:t>
            </a:r>
            <a:r>
              <a:rPr lang="zh-CN" altLang="en-US" sz="2400" dirty="0">
                <a:latin typeface="黑体" panose="02010609060101010101" charset="-122"/>
                <a:ea typeface="黑体" panose="02010609060101010101" charset="-122"/>
              </a:rPr>
              <a:t>）</a:t>
            </a:r>
            <a:endParaRPr lang="en-US" altLang="zh-CN" sz="2400" dirty="0">
              <a:latin typeface="黑体" panose="02010609060101010101" charset="-122"/>
              <a:ea typeface="黑体" panose="02010609060101010101" charset="-122"/>
            </a:endParaRPr>
          </a:p>
          <a:p>
            <a:pPr marL="285750" indent="-285750">
              <a:lnSpc>
                <a:spcPct val="150000"/>
              </a:lnSpc>
              <a:buFont typeface="Wingdings" panose="05000000000000000000" charset="0"/>
              <a:buChar char=""/>
            </a:pPr>
            <a:r>
              <a:rPr lang="en-US" altLang="zh-CN" sz="2400" dirty="0">
                <a:latin typeface="黑体" panose="02010609060101010101" charset="-122"/>
                <a:ea typeface="黑体" panose="02010609060101010101" charset="-122"/>
              </a:rPr>
              <a:t>KNN</a:t>
            </a:r>
            <a:r>
              <a:rPr lang="zh-CN" altLang="en-US" sz="2400" dirty="0" smtClean="0">
                <a:latin typeface="黑体" panose="02010609060101010101" charset="-122"/>
                <a:ea typeface="黑体" panose="02010609060101010101" charset="-122"/>
              </a:rPr>
              <a:t>：</a:t>
            </a:r>
            <a:r>
              <a:rPr lang="en-US" altLang="zh-CN" sz="2400" dirty="0">
                <a:latin typeface="黑体" panose="02010609060101010101" charset="-122"/>
                <a:ea typeface="黑体" panose="02010609060101010101" charset="-122"/>
              </a:rPr>
              <a:t>K</a:t>
            </a:r>
            <a:r>
              <a:rPr lang="zh-CN" altLang="en-US" sz="2400" dirty="0">
                <a:latin typeface="黑体" panose="02010609060101010101" charset="-122"/>
                <a:ea typeface="黑体" panose="02010609060101010101" charset="-122"/>
              </a:rPr>
              <a:t>最近邻（</a:t>
            </a:r>
            <a:r>
              <a:rPr lang="en-US" altLang="zh-CN" sz="2400" dirty="0">
                <a:latin typeface="黑体" panose="02010609060101010101" charset="-122"/>
                <a:ea typeface="黑体" panose="02010609060101010101" charset="-122"/>
              </a:rPr>
              <a:t>K-Nearest Neighbor</a:t>
            </a:r>
            <a:r>
              <a:rPr lang="zh-CN" altLang="en-US" sz="2400" dirty="0">
                <a:latin typeface="黑体" panose="02010609060101010101" charset="-122"/>
                <a:ea typeface="黑体" panose="02010609060101010101" charset="-122"/>
              </a:rPr>
              <a:t>） </a:t>
            </a:r>
            <a:endParaRPr lang="en-US" altLang="zh-CN" sz="2400" dirty="0">
              <a:latin typeface="黑体" panose="02010609060101010101" charset="-122"/>
              <a:ea typeface="黑体" panose="02010609060101010101" charset="-122"/>
            </a:endParaRPr>
          </a:p>
          <a:p>
            <a:pPr marL="285750" indent="-285750">
              <a:lnSpc>
                <a:spcPct val="150000"/>
              </a:lnSpc>
              <a:buFont typeface="Wingdings" panose="05000000000000000000" charset="0"/>
              <a:buChar char=""/>
            </a:pPr>
            <a:r>
              <a:rPr lang="en-US" altLang="zh-CN" sz="2400" dirty="0">
                <a:latin typeface="黑体" panose="02010609060101010101" charset="-122"/>
                <a:ea typeface="黑体" panose="02010609060101010101" charset="-122"/>
              </a:rPr>
              <a:t>SVM</a:t>
            </a:r>
            <a:r>
              <a:rPr lang="zh-CN" altLang="en-US" sz="2400" dirty="0">
                <a:latin typeface="黑体" panose="02010609060101010101" charset="-122"/>
                <a:ea typeface="黑体" panose="02010609060101010101" charset="-122"/>
              </a:rPr>
              <a:t>：</a:t>
            </a:r>
            <a:r>
              <a:rPr lang="zh-CN" altLang="en-US" sz="2400" dirty="0">
                <a:latin typeface="黑体" panose="02010609060101010101" charset="-122"/>
                <a:ea typeface="黑体" panose="02010609060101010101" charset="-122"/>
              </a:rPr>
              <a:t>支持</a:t>
            </a:r>
            <a:r>
              <a:rPr lang="zh-CN" altLang="en-US" sz="2400" dirty="0">
                <a:latin typeface="黑体" panose="02010609060101010101" charset="-122"/>
                <a:ea typeface="黑体" panose="02010609060101010101" charset="-122"/>
              </a:rPr>
              <a:t>向量</a:t>
            </a:r>
            <a:r>
              <a:rPr lang="zh-CN" altLang="en-US" sz="2400" dirty="0">
                <a:latin typeface="黑体" panose="02010609060101010101" charset="-122"/>
                <a:ea typeface="黑体" panose="02010609060101010101" charset="-122"/>
              </a:rPr>
              <a:t>机（</a:t>
            </a:r>
            <a:r>
              <a:rPr lang="en-US" altLang="zh-CN" sz="2400" dirty="0">
                <a:latin typeface="黑体" panose="02010609060101010101" charset="-122"/>
                <a:ea typeface="黑体" panose="02010609060101010101" charset="-122"/>
              </a:rPr>
              <a:t>Support Vector Machine</a:t>
            </a:r>
            <a:r>
              <a:rPr lang="zh-CN" altLang="en-US" sz="2400" dirty="0">
                <a:latin typeface="黑体" panose="02010609060101010101" charset="-122"/>
                <a:ea typeface="黑体" panose="02010609060101010101" charset="-122"/>
              </a:rPr>
              <a:t>）</a:t>
            </a:r>
            <a:endParaRPr lang="en-US" altLang="zh-CN" sz="2400" dirty="0">
              <a:latin typeface="黑体" panose="02010609060101010101" charset="-122"/>
              <a:ea typeface="黑体" panose="02010609060101010101" charset="-122"/>
            </a:endParaRPr>
          </a:p>
          <a:p>
            <a:pPr marL="285750" indent="-285750">
              <a:lnSpc>
                <a:spcPct val="150000"/>
              </a:lnSpc>
              <a:buFont typeface="Wingdings" panose="05000000000000000000" charset="0"/>
              <a:buChar char=""/>
            </a:pPr>
            <a:r>
              <a:rPr lang="en-US" altLang="zh-CN" sz="2400" dirty="0">
                <a:latin typeface="黑体" panose="02010609060101010101" charset="-122"/>
                <a:ea typeface="黑体" panose="02010609060101010101" charset="-122"/>
              </a:rPr>
              <a:t>GMM</a:t>
            </a:r>
            <a:r>
              <a:rPr lang="zh-CN" altLang="en-US" sz="2400" dirty="0">
                <a:latin typeface="黑体" panose="02010609060101010101" charset="-122"/>
                <a:ea typeface="黑体" panose="02010609060101010101" charset="-122"/>
              </a:rPr>
              <a:t>：</a:t>
            </a:r>
            <a:r>
              <a:rPr lang="zh-CN" altLang="en-US" sz="2400" dirty="0">
                <a:latin typeface="黑体" panose="02010609060101010101" charset="-122"/>
                <a:ea typeface="黑体" panose="02010609060101010101" charset="-122"/>
              </a:rPr>
              <a:t>高斯</a:t>
            </a:r>
            <a:r>
              <a:rPr lang="zh-CN" altLang="en-US" sz="2400" dirty="0">
                <a:latin typeface="黑体" panose="02010609060101010101" charset="-122"/>
                <a:ea typeface="黑体" panose="02010609060101010101" charset="-122"/>
              </a:rPr>
              <a:t>混合模型（</a:t>
            </a:r>
            <a:r>
              <a:rPr lang="en-US" altLang="zh-CN" sz="2400" dirty="0">
                <a:latin typeface="黑体" panose="02010609060101010101" charset="-122"/>
                <a:ea typeface="黑体" panose="02010609060101010101" charset="-122"/>
              </a:rPr>
              <a:t>Gaussian Mixture Model</a:t>
            </a:r>
            <a:r>
              <a:rPr lang="zh-CN" altLang="en-US" sz="2400" dirty="0">
                <a:latin typeface="黑体" panose="02010609060101010101" charset="-122"/>
                <a:ea typeface="黑体" panose="02010609060101010101" charset="-122"/>
              </a:rPr>
              <a:t>） </a:t>
            </a:r>
            <a:endParaRPr lang="en-US" altLang="zh-CN" sz="2400" dirty="0">
              <a:latin typeface="黑体" panose="02010609060101010101" charset="-122"/>
              <a:ea typeface="黑体" panose="02010609060101010101" charset="-122"/>
            </a:endParaRPr>
          </a:p>
          <a:p>
            <a:pPr marL="285750" indent="-285750">
              <a:lnSpc>
                <a:spcPct val="150000"/>
              </a:lnSpc>
              <a:buFont typeface="Wingdings" panose="05000000000000000000" charset="0"/>
              <a:buChar char=""/>
            </a:pPr>
            <a:r>
              <a:rPr lang="en-US" altLang="zh-CN" sz="2400" dirty="0" smtClean="0">
                <a:latin typeface="黑体" panose="02010609060101010101" charset="-122"/>
                <a:ea typeface="黑体" panose="02010609060101010101" charset="-122"/>
              </a:rPr>
              <a:t>DBN</a:t>
            </a:r>
            <a:r>
              <a:rPr lang="zh-CN" altLang="en-US" sz="2400" dirty="0" smtClean="0">
                <a:latin typeface="黑体" panose="02010609060101010101" charset="-122"/>
                <a:ea typeface="黑体" panose="02010609060101010101" charset="-122"/>
              </a:rPr>
              <a:t>：深度</a:t>
            </a:r>
            <a:r>
              <a:rPr lang="zh-CN" altLang="en-US" sz="2400" dirty="0">
                <a:latin typeface="黑体" panose="02010609060101010101" charset="-122"/>
                <a:ea typeface="黑体" panose="02010609060101010101" charset="-122"/>
              </a:rPr>
              <a:t>信任网络（</a:t>
            </a:r>
            <a:r>
              <a:rPr lang="en-US" altLang="zh-CN" sz="2400" dirty="0">
                <a:latin typeface="黑体" panose="02010609060101010101" charset="-122"/>
                <a:ea typeface="黑体" panose="02010609060101010101" charset="-122"/>
              </a:rPr>
              <a:t>Deep Belief Networks</a:t>
            </a:r>
            <a:r>
              <a:rPr lang="zh-CN" altLang="en-US" sz="2400" dirty="0">
                <a:latin typeface="黑体" panose="02010609060101010101" charset="-122"/>
                <a:ea typeface="黑体" panose="02010609060101010101" charset="-122"/>
              </a:rPr>
              <a:t>）</a:t>
            </a:r>
            <a:endParaRPr lang="en-US" altLang="zh-CN" sz="2400" dirty="0">
              <a:latin typeface="黑体" panose="02010609060101010101" charset="-122"/>
              <a:ea typeface="黑体" panose="02010609060101010101" charset="-122"/>
            </a:endParaRPr>
          </a:p>
          <a:p>
            <a:pPr>
              <a:lnSpc>
                <a:spcPct val="150000"/>
              </a:lnSpc>
            </a:pPr>
            <a:r>
              <a:rPr lang="zh-CN" altLang="en-US" sz="2000" dirty="0" smtClean="0"/>
              <a:t/>
            </a:r>
            <a:br>
              <a:rPr lang="zh-CN" altLang="en-US" sz="2000" dirty="0" smtClean="0"/>
            </a:br>
            <a:r>
              <a:rPr lang="zh-CN" altLang="en-US" sz="2000" dirty="0" smtClean="0"/>
              <a:t> </a:t>
            </a:r>
            <a:br>
              <a:rPr lang="zh-CN" altLang="en-US" sz="2000" dirty="0" smtClean="0"/>
            </a:br>
            <a:endParaRPr lang="zh-CN" altLang="zh-CN" sz="2000" b="0" dirty="0">
              <a:latin typeface="黑体" panose="02010609060101010101" charset="-122"/>
              <a:ea typeface="黑体" panose="02010609060101010101" charset="-122"/>
              <a:sym typeface="+mn-ea"/>
            </a:endParaRPr>
          </a:p>
        </p:txBody>
      </p:sp>
    </p:spTree>
    <p:extLst>
      <p:ext uri="{BB962C8B-B14F-4D97-AF65-F5344CB8AC3E}">
        <p14:creationId xmlns:p14="http://schemas.microsoft.com/office/powerpoint/2010/main" val="280038368"/>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A99A888-F0A6-497F-A203-744BF10280CF}" type="slidenum">
              <a:rPr lang="zh-CN" altLang="en-US" smtClean="0"/>
              <a:pPr/>
              <a:t>29</a:t>
            </a:fld>
            <a:endParaRPr lang="zh-CN" altLang="en-US"/>
          </a:p>
        </p:txBody>
      </p:sp>
      <p:grpSp>
        <p:nvGrpSpPr>
          <p:cNvPr id="3" name="组合 2"/>
          <p:cNvGrpSpPr/>
          <p:nvPr/>
        </p:nvGrpSpPr>
        <p:grpSpPr>
          <a:xfrm>
            <a:off x="3810" y="356870"/>
            <a:ext cx="5117466" cy="460375"/>
            <a:chOff x="0" y="522689"/>
            <a:chExt cx="3607279" cy="508886"/>
          </a:xfrm>
          <a:solidFill>
            <a:srgbClr val="802358"/>
          </a:solidFill>
        </p:grpSpPr>
        <p:grpSp>
          <p:nvGrpSpPr>
            <p:cNvPr id="5" name="组合 4"/>
            <p:cNvGrpSpPr/>
            <p:nvPr/>
          </p:nvGrpSpPr>
          <p:grpSpPr>
            <a:xfrm>
              <a:off x="0" y="533201"/>
              <a:ext cx="3415702" cy="492760"/>
              <a:chOff x="0" y="278653"/>
              <a:chExt cx="3415702" cy="492760"/>
            </a:xfrm>
            <a:grpFill/>
          </p:grpSpPr>
          <p:sp>
            <p:nvSpPr>
              <p:cNvPr id="8" name="矩形 7"/>
              <p:cNvSpPr/>
              <p:nvPr/>
            </p:nvSpPr>
            <p:spPr>
              <a:xfrm>
                <a:off x="0" y="278653"/>
                <a:ext cx="3066586" cy="492760"/>
              </a:xfrm>
              <a:prstGeom prst="rect">
                <a:avLst/>
              </a:prstGeom>
              <a:grpFill/>
              <a:ln>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15" name="直角三角形 14"/>
              <p:cNvSpPr/>
              <p:nvPr/>
            </p:nvSpPr>
            <p:spPr>
              <a:xfrm>
                <a:off x="3076857" y="299819"/>
                <a:ext cx="338845" cy="468207"/>
              </a:xfrm>
              <a:prstGeom prst="rtTriangle">
                <a:avLst/>
              </a:prstGeom>
              <a:grpFill/>
              <a:ln w="19050">
                <a:solidFill>
                  <a:srgbClr val="8023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grpSp>
        <p:sp>
          <p:nvSpPr>
            <p:cNvPr id="16" name="文本框 3"/>
            <p:cNvSpPr txBox="1"/>
            <p:nvPr/>
          </p:nvSpPr>
          <p:spPr>
            <a:xfrm>
              <a:off x="282889" y="522689"/>
              <a:ext cx="3324390" cy="508886"/>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r>
                <a:rPr lang="en-US" sz="2400" dirty="0" smtClean="0">
                  <a:solidFill>
                    <a:schemeClr val="bg1"/>
                  </a:solidFill>
                  <a:latin typeface="微软雅黑" panose="020B0503020204020204" pitchFamily="34" charset="-122"/>
                  <a:ea typeface="微软雅黑" panose="020B0503020204020204" pitchFamily="34" charset="-122"/>
                  <a:sym typeface="+mn-ea"/>
                </a:rPr>
                <a:t>5 </a:t>
              </a:r>
              <a:r>
                <a:rPr lang="zh-CN" altLang="en-US" sz="2400" dirty="0">
                  <a:solidFill>
                    <a:schemeClr val="bg1"/>
                  </a:solidFill>
                  <a:latin typeface="微软雅黑" panose="020B0503020204020204" pitchFamily="34" charset="-122"/>
                  <a:ea typeface="微软雅黑" panose="020B0503020204020204" pitchFamily="34" charset="-122"/>
                  <a:sym typeface="+mn-ea"/>
                </a:rPr>
                <a:t>肺</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音分类的相关方法</a:t>
              </a:r>
              <a:endParaRPr lang="zh-CN" altLang="en-US" sz="2400" dirty="0">
                <a:solidFill>
                  <a:schemeClr val="bg1"/>
                </a:solidFill>
                <a:latin typeface="微软雅黑" panose="020B0503020204020204" pitchFamily="34" charset="-122"/>
                <a:ea typeface="微软雅黑" panose="020B0503020204020204" pitchFamily="34" charset="-122"/>
                <a:sym typeface="+mn-ea"/>
              </a:endParaRPr>
            </a:p>
          </p:txBody>
        </p:sp>
      </p:grpSp>
      <p:sp>
        <p:nvSpPr>
          <p:cNvPr id="11" name="文本框 10"/>
          <p:cNvSpPr txBox="1"/>
          <p:nvPr/>
        </p:nvSpPr>
        <p:spPr>
          <a:xfrm>
            <a:off x="354009" y="845903"/>
            <a:ext cx="8510270" cy="7432804"/>
          </a:xfrm>
          <a:prstGeom prst="rect">
            <a:avLst/>
          </a:prstGeom>
          <a:noFill/>
          <a:ln w="9525">
            <a:noFill/>
          </a:ln>
        </p:spPr>
        <p:txBody>
          <a:bodyPr wrap="square">
            <a:spAutoFit/>
          </a:bodyPr>
          <a:lstStyle/>
          <a:p>
            <a:pPr>
              <a:lnSpc>
                <a:spcPct val="150000"/>
              </a:lnSpc>
            </a:pPr>
            <a:r>
              <a:rPr lang="zh-CN" altLang="en-US" dirty="0" smtClean="0"/>
              <a:t>相关文章介绍：</a:t>
            </a:r>
            <a:endParaRPr lang="en-US" altLang="zh-CN" dirty="0" smtClean="0"/>
          </a:p>
          <a:p>
            <a:pPr marL="285750" lvl="0" indent="-285750">
              <a:lnSpc>
                <a:spcPct val="150000"/>
              </a:lnSpc>
              <a:buFont typeface="Wingdings" panose="05000000000000000000" charset="0"/>
              <a:buChar char=""/>
            </a:pPr>
            <a:r>
              <a:rPr lang="en-US" altLang="zh-CN" dirty="0" err="1"/>
              <a:t>Pesu</a:t>
            </a:r>
            <a:r>
              <a:rPr lang="en-US" altLang="zh-CN" dirty="0"/>
              <a:t> L, </a:t>
            </a:r>
            <a:r>
              <a:rPr lang="en-US" altLang="zh-CN" dirty="0" err="1"/>
              <a:t>Helistö</a:t>
            </a:r>
            <a:r>
              <a:rPr lang="en-US" altLang="zh-CN" dirty="0"/>
              <a:t> P, </a:t>
            </a:r>
            <a:r>
              <a:rPr lang="en-US" altLang="zh-CN" dirty="0" err="1"/>
              <a:t>Ademovic</a:t>
            </a:r>
            <a:r>
              <a:rPr lang="en-US" altLang="zh-CN" dirty="0"/>
              <a:t> E, et al. Classification of respiratory sounds based on wavelet packet decomposition and learning vector quantization.[J]. Technology &amp; Health Care, 1998, 6(1):65-74.</a:t>
            </a:r>
            <a:endParaRPr lang="zh-CN" altLang="zh-CN" dirty="0"/>
          </a:p>
          <a:p>
            <a:pPr marL="285750" indent="-285750">
              <a:lnSpc>
                <a:spcPct val="150000"/>
              </a:lnSpc>
              <a:buFont typeface="Wingdings" panose="05000000000000000000" charset="0"/>
              <a:buChar char=""/>
            </a:pPr>
            <a:r>
              <a:rPr lang="en-US" altLang="zh-CN" dirty="0" err="1"/>
              <a:t>Bahoura</a:t>
            </a:r>
            <a:r>
              <a:rPr lang="en-US" altLang="zh-CN" dirty="0"/>
              <a:t> M, Pelletier C. Respiratory sounds classification using Gaussian mixture models[C]// Engineering in Medicine and Biology Society, 2004. </a:t>
            </a:r>
            <a:r>
              <a:rPr lang="en-US" altLang="zh-CN" dirty="0" err="1"/>
              <a:t>Iembs</a:t>
            </a:r>
            <a:r>
              <a:rPr lang="en-US" altLang="zh-CN" dirty="0"/>
              <a:t> '04. International Conference of the IEEE. IEEE, 2004:9-12</a:t>
            </a:r>
            <a:r>
              <a:rPr lang="en-US" altLang="zh-CN" dirty="0" smtClean="0"/>
              <a:t>.</a:t>
            </a:r>
          </a:p>
          <a:p>
            <a:pPr marL="285750" lvl="0" indent="-285750">
              <a:lnSpc>
                <a:spcPct val="150000"/>
              </a:lnSpc>
              <a:buFont typeface="Wingdings" panose="05000000000000000000" charset="0"/>
              <a:buChar char=""/>
            </a:pPr>
            <a:r>
              <a:rPr lang="en-US" altLang="zh-CN" dirty="0" err="1"/>
              <a:t>Abbasi</a:t>
            </a:r>
            <a:r>
              <a:rPr lang="en-US" altLang="zh-CN" dirty="0"/>
              <a:t> S, </a:t>
            </a:r>
            <a:r>
              <a:rPr lang="en-US" altLang="zh-CN" dirty="0" err="1"/>
              <a:t>Derakhshanfar</a:t>
            </a:r>
            <a:r>
              <a:rPr lang="en-US" altLang="zh-CN" dirty="0"/>
              <a:t> R, </a:t>
            </a:r>
            <a:r>
              <a:rPr lang="en-US" altLang="zh-CN" dirty="0" err="1"/>
              <a:t>Abbasi</a:t>
            </a:r>
            <a:r>
              <a:rPr lang="en-US" altLang="zh-CN" dirty="0"/>
              <a:t> A, et al. Classification of normal and abnormal lung sounds using neural network and support vector machines[M]. 2013</a:t>
            </a:r>
            <a:r>
              <a:rPr lang="en-US" altLang="zh-CN" dirty="0" smtClean="0"/>
              <a:t>.</a:t>
            </a:r>
            <a:endParaRPr lang="en-US" altLang="zh-CN" sz="2000" dirty="0" smtClean="0"/>
          </a:p>
          <a:p>
            <a:pPr marL="285750" indent="-285750">
              <a:lnSpc>
                <a:spcPct val="150000"/>
              </a:lnSpc>
              <a:buFont typeface="Wingdings" panose="05000000000000000000" charset="0"/>
              <a:buChar char=""/>
            </a:pPr>
            <a:r>
              <a:rPr lang="zh-CN" altLang="zh-CN" sz="2000" dirty="0" smtClean="0"/>
              <a:t>刘</a:t>
            </a:r>
            <a:r>
              <a:rPr lang="zh-CN" altLang="zh-CN" sz="2000" dirty="0"/>
              <a:t>国栋</a:t>
            </a:r>
            <a:r>
              <a:rPr lang="en-US" altLang="zh-CN" sz="2000" dirty="0"/>
              <a:t>, </a:t>
            </a:r>
            <a:r>
              <a:rPr lang="zh-CN" altLang="zh-CN" sz="2000" dirty="0"/>
              <a:t>许静</a:t>
            </a:r>
            <a:r>
              <a:rPr lang="en-US" altLang="zh-CN" sz="2000" dirty="0"/>
              <a:t>. </a:t>
            </a:r>
            <a:r>
              <a:rPr lang="zh-CN" altLang="zh-CN" sz="2000" dirty="0"/>
              <a:t>基于</a:t>
            </a:r>
            <a:r>
              <a:rPr lang="en-US" altLang="zh-CN" sz="2000" dirty="0"/>
              <a:t>SVM</a:t>
            </a:r>
            <a:r>
              <a:rPr lang="zh-CN" altLang="zh-CN" sz="2000" dirty="0"/>
              <a:t>方法的神经网络呼吸音识别算法</a:t>
            </a:r>
            <a:r>
              <a:rPr lang="en-US" altLang="zh-CN" sz="2000" dirty="0"/>
              <a:t>[J]. </a:t>
            </a:r>
            <a:r>
              <a:rPr lang="zh-CN" altLang="zh-CN" sz="2000" dirty="0"/>
              <a:t>通信学报</a:t>
            </a:r>
            <a:r>
              <a:rPr lang="en-US" altLang="zh-CN" sz="2000" dirty="0"/>
              <a:t>, 2014, 35(10</a:t>
            </a:r>
            <a:r>
              <a:rPr lang="en-US" altLang="zh-CN" sz="2000" dirty="0" smtClean="0"/>
              <a:t>).</a:t>
            </a:r>
          </a:p>
          <a:p>
            <a:pPr marL="285750" indent="-285750">
              <a:lnSpc>
                <a:spcPct val="150000"/>
              </a:lnSpc>
              <a:buFont typeface="Wingdings" panose="05000000000000000000" charset="0"/>
              <a:buChar char=""/>
            </a:pPr>
            <a:r>
              <a:rPr lang="zh-CN" altLang="zh-CN" dirty="0"/>
              <a:t>姚小静</a:t>
            </a:r>
            <a:r>
              <a:rPr lang="en-US" altLang="zh-CN" dirty="0"/>
              <a:t>, </a:t>
            </a:r>
            <a:r>
              <a:rPr lang="zh-CN" altLang="zh-CN" dirty="0"/>
              <a:t>王洪</a:t>
            </a:r>
            <a:r>
              <a:rPr lang="en-US" altLang="zh-CN" dirty="0"/>
              <a:t>, </a:t>
            </a:r>
            <a:r>
              <a:rPr lang="zh-CN" altLang="zh-CN" dirty="0"/>
              <a:t>刘盛雄</a:t>
            </a:r>
            <a:r>
              <a:rPr lang="en-US" altLang="zh-CN" dirty="0"/>
              <a:t>. </a:t>
            </a:r>
            <a:r>
              <a:rPr lang="zh-CN" altLang="zh-CN" dirty="0"/>
              <a:t>基于遗传</a:t>
            </a:r>
            <a:r>
              <a:rPr lang="en-US" altLang="zh-CN" dirty="0"/>
              <a:t>BP</a:t>
            </a:r>
            <a:r>
              <a:rPr lang="zh-CN" altLang="zh-CN" dirty="0"/>
              <a:t>神经网络的肺音分类识别算法研究</a:t>
            </a:r>
            <a:r>
              <a:rPr lang="en-US" altLang="zh-CN" dirty="0"/>
              <a:t>[J]. </a:t>
            </a:r>
            <a:r>
              <a:rPr lang="zh-CN" altLang="zh-CN" dirty="0"/>
              <a:t>航天医学与医学工程</a:t>
            </a:r>
            <a:r>
              <a:rPr lang="en-US" altLang="zh-CN" dirty="0"/>
              <a:t>, 2016, 29(1):45-51</a:t>
            </a:r>
            <a:r>
              <a:rPr lang="en-US" altLang="zh-CN" dirty="0" smtClean="0"/>
              <a:t>.</a:t>
            </a:r>
          </a:p>
          <a:p>
            <a:pPr marL="285750" indent="-285750">
              <a:lnSpc>
                <a:spcPct val="150000"/>
              </a:lnSpc>
              <a:buFont typeface="Wingdings" panose="05000000000000000000" charset="0"/>
              <a:buChar char=""/>
            </a:pPr>
            <a:endParaRPr lang="en-US" altLang="zh-CN" sz="2000" dirty="0"/>
          </a:p>
          <a:p>
            <a:pPr>
              <a:lnSpc>
                <a:spcPct val="150000"/>
              </a:lnSpc>
            </a:pPr>
            <a:r>
              <a:rPr lang="zh-CN" altLang="en-US" sz="2000" dirty="0" smtClean="0"/>
              <a:t/>
            </a:r>
            <a:br>
              <a:rPr lang="zh-CN" altLang="en-US" sz="2000" dirty="0" smtClean="0"/>
            </a:br>
            <a:r>
              <a:rPr lang="zh-CN" altLang="en-US" sz="2000" dirty="0" smtClean="0"/>
              <a:t> </a:t>
            </a:r>
            <a:br>
              <a:rPr lang="zh-CN" altLang="en-US" sz="2000" dirty="0" smtClean="0"/>
            </a:br>
            <a:endParaRPr lang="zh-CN" altLang="zh-CN" sz="2000" b="0" dirty="0">
              <a:latin typeface="黑体" panose="02010609060101010101" charset="-122"/>
              <a:ea typeface="黑体" panose="02010609060101010101" charset="-122"/>
              <a:sym typeface="+mn-ea"/>
            </a:endParaRPr>
          </a:p>
        </p:txBody>
      </p:sp>
    </p:spTree>
    <p:extLst>
      <p:ext uri="{BB962C8B-B14F-4D97-AF65-F5344CB8AC3E}">
        <p14:creationId xmlns:p14="http://schemas.microsoft.com/office/powerpoint/2010/main" val="1162736353"/>
      </p:ext>
    </p:extLst>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2535487" y="1986969"/>
            <a:ext cx="6041571" cy="2306955"/>
          </a:xfrm>
          <a:prstGeom prst="rect">
            <a:avLst/>
          </a:prstGeom>
          <a:noFill/>
        </p:spPr>
        <p:txBody>
          <a:bodyPr wrap="square" rtlCol="0">
            <a:spAutoFit/>
          </a:bodyPr>
          <a:lstStyle/>
          <a:p>
            <a:pPr algn="just">
              <a:lnSpc>
                <a:spcPct val="200000"/>
              </a:lnSpc>
            </a:pPr>
            <a:r>
              <a:rPr lang="zh-CN" altLang="en-US" sz="7200" dirty="0" smtClean="0">
                <a:solidFill>
                  <a:schemeClr val="bg1">
                    <a:lumMod val="50000"/>
                  </a:schemeClr>
                </a:solidFill>
                <a:latin typeface="微软雅黑" panose="020B0503020204020204" pitchFamily="34" charset="-122"/>
                <a:ea typeface="微软雅黑" panose="020B0503020204020204" pitchFamily="34" charset="-122"/>
              </a:rPr>
              <a:t>   谢谢</a:t>
            </a:r>
            <a:endParaRPr lang="en-US" altLang="zh-CN" sz="7200"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4A99A888-F0A6-497F-A203-744BF10280CF}" type="slidenum">
              <a:rPr lang="zh-CN" altLang="en-US" sz="900" smtClean="0"/>
              <a:pPr/>
              <a:t>30</a:t>
            </a:fld>
            <a:endParaRPr lang="zh-CN" altLang="en-US" sz="900"/>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5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1093</TotalTime>
  <Words>1496</Words>
  <Application>Microsoft Office PowerPoint</Application>
  <PresentationFormat>全屏显示(4:3)</PresentationFormat>
  <Paragraphs>234</Paragraphs>
  <Slides>30</Slides>
  <Notes>30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黑体</vt:lpstr>
      <vt:lpstr>宋体</vt:lpstr>
      <vt:lpstr>微软雅黑</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cp:lastModifiedBy>dell</cp:lastModifiedBy>
  <cp:revision>544</cp:revision>
  <dcterms:created xsi:type="dcterms:W3CDTF">2013-10-25T14:41:00Z</dcterms:created>
  <dcterms:modified xsi:type="dcterms:W3CDTF">2018-07-17T00:58:44Z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